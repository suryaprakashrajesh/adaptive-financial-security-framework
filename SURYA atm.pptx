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29"/>
  </p:notesMasterIdLst>
  <p:sldIdLst>
    <p:sldId id="259" r:id="rId2"/>
    <p:sldId id="300" r:id="rId3"/>
    <p:sldId id="343" r:id="rId4"/>
    <p:sldId id="299" r:id="rId5"/>
    <p:sldId id="356" r:id="rId6"/>
    <p:sldId id="377" r:id="rId7"/>
    <p:sldId id="309" r:id="rId8"/>
    <p:sldId id="310" r:id="rId9"/>
    <p:sldId id="333" r:id="rId10"/>
    <p:sldId id="313" r:id="rId11"/>
    <p:sldId id="344" r:id="rId12"/>
    <p:sldId id="351" r:id="rId13"/>
    <p:sldId id="366" r:id="rId14"/>
    <p:sldId id="314" r:id="rId15"/>
    <p:sldId id="315" r:id="rId16"/>
    <p:sldId id="368" r:id="rId17"/>
    <p:sldId id="369" r:id="rId18"/>
    <p:sldId id="370" r:id="rId19"/>
    <p:sldId id="371" r:id="rId20"/>
    <p:sldId id="378" r:id="rId21"/>
    <p:sldId id="379" r:id="rId22"/>
    <p:sldId id="380" r:id="rId23"/>
    <p:sldId id="381" r:id="rId24"/>
    <p:sldId id="372" r:id="rId25"/>
    <p:sldId id="382" r:id="rId26"/>
    <p:sldId id="316" r:id="rId27"/>
    <p:sldId id="278"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28FE0-E87F-4AAF-84CF-537C869F1B2D}" type="datetimeFigureOut">
              <a:rPr lang="en-IN" smtClean="0"/>
              <a:t>02-02-2026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7ED5E-2731-4FC6-879B-EB7070716EC3}" type="slidenum">
              <a:rPr lang="en-IN" smtClean="0"/>
              <a:t>‹#›</a:t>
            </a:fld>
            <a:endParaRPr lang="en-IN"/>
          </a:p>
        </p:txBody>
      </p:sp>
    </p:spTree>
    <p:extLst>
      <p:ext uri="{BB962C8B-B14F-4D97-AF65-F5344CB8AC3E}">
        <p14:creationId xmlns:p14="http://schemas.microsoft.com/office/powerpoint/2010/main" val="3161715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4723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07095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69390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62995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91490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242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9C2CA8-7230-47CD-B504-4FD8FC3F62CB}"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1510437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9C2CA8-7230-47CD-B504-4FD8FC3F62CB}"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454428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9C2CA8-7230-47CD-B504-4FD8FC3F62CB}"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157498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9C2CA8-7230-47CD-B504-4FD8FC3F62CB}"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4136300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9C2CA8-7230-47CD-B504-4FD8FC3F62CB}" type="datetimeFigureOut">
              <a:rPr lang="en-IN" smtClean="0"/>
              <a:t>02-02-2026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1868065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9C2CA8-7230-47CD-B504-4FD8FC3F62CB}" type="datetimeFigureOut">
              <a:rPr lang="en-IN" smtClean="0"/>
              <a:t>02-02-2026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1529092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9C2CA8-7230-47CD-B504-4FD8FC3F62CB}" type="datetimeFigureOut">
              <a:rPr lang="en-IN" smtClean="0"/>
              <a:t>02-02-2026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832290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9C2CA8-7230-47CD-B504-4FD8FC3F62CB}"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939923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9C2CA8-7230-47CD-B504-4FD8FC3F62CB}"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2570995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9C2CA8-7230-47CD-B504-4FD8FC3F62CB}"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527700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9C2CA8-7230-47CD-B504-4FD8FC3F62CB}"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1634671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81"/>
        <p:cNvGrpSpPr/>
        <p:nvPr/>
      </p:nvGrpSpPr>
      <p:grpSpPr>
        <a:xfrm>
          <a:off x="0" y="0"/>
          <a:ext cx="0" cy="0"/>
          <a:chOff x="0" y="0"/>
          <a:chExt cx="0" cy="0"/>
        </a:xfrm>
      </p:grpSpPr>
      <p:sp>
        <p:nvSpPr>
          <p:cNvPr id="98" name="Google Shape;98;p6"/>
          <p:cNvSpPr txBox="1">
            <a:spLocks noGrp="1"/>
          </p:cNvSpPr>
          <p:nvPr>
            <p:ph type="title"/>
          </p:nvPr>
        </p:nvSpPr>
        <p:spPr>
          <a:xfrm>
            <a:off x="1085700" y="523433"/>
            <a:ext cx="7011200" cy="10216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9" name="Google Shape;99;p6"/>
          <p:cNvSpPr txBox="1">
            <a:spLocks noGrp="1"/>
          </p:cNvSpPr>
          <p:nvPr>
            <p:ph type="body" idx="1"/>
          </p:nvPr>
        </p:nvSpPr>
        <p:spPr>
          <a:xfrm>
            <a:off x="1085700" y="2050651"/>
            <a:ext cx="4504400" cy="3632400"/>
          </a:xfrm>
          <a:prstGeom prst="rect">
            <a:avLst/>
          </a:prstGeom>
        </p:spPr>
        <p:txBody>
          <a:bodyPr spcFirstLastPara="1" wrap="square" lIns="91425" tIns="91425" rIns="91425" bIns="91425" anchor="t" anchorCtr="0">
            <a:noAutofit/>
          </a:bodyPr>
          <a:lstStyle>
            <a:lvl1pPr marL="609585" lvl="0" indent="-474121">
              <a:spcBef>
                <a:spcPts val="800"/>
              </a:spcBef>
              <a:spcAft>
                <a:spcPts val="0"/>
              </a:spcAft>
              <a:buSzPts val="2000"/>
              <a:buChar char="▰"/>
              <a:defRPr sz="2667"/>
            </a:lvl1pPr>
            <a:lvl2pPr marL="1219170" lvl="1" indent="-474121">
              <a:spcBef>
                <a:spcPts val="1333"/>
              </a:spcBef>
              <a:spcAft>
                <a:spcPts val="0"/>
              </a:spcAft>
              <a:buSzPts val="2000"/>
              <a:buChar char="▻"/>
              <a:defRPr sz="2667"/>
            </a:lvl2pPr>
            <a:lvl3pPr marL="1828754" lvl="2" indent="-474121">
              <a:spcBef>
                <a:spcPts val="1333"/>
              </a:spcBef>
              <a:spcAft>
                <a:spcPts val="0"/>
              </a:spcAft>
              <a:buSzPts val="2000"/>
              <a:buChar char="▻"/>
              <a:defRPr sz="2667"/>
            </a:lvl3pPr>
            <a:lvl4pPr marL="2438339" lvl="3" indent="-474121">
              <a:spcBef>
                <a:spcPts val="1333"/>
              </a:spcBef>
              <a:spcAft>
                <a:spcPts val="0"/>
              </a:spcAft>
              <a:buSzPts val="2000"/>
              <a:buChar char="▻"/>
              <a:defRPr sz="2667"/>
            </a:lvl4pPr>
            <a:lvl5pPr marL="3047924" lvl="4" indent="-474121">
              <a:spcBef>
                <a:spcPts val="1333"/>
              </a:spcBef>
              <a:spcAft>
                <a:spcPts val="0"/>
              </a:spcAft>
              <a:buSzPts val="2000"/>
              <a:buChar char="▻"/>
              <a:defRPr sz="2667"/>
            </a:lvl5pPr>
            <a:lvl6pPr marL="3657509" lvl="5" indent="-474121">
              <a:spcBef>
                <a:spcPts val="1333"/>
              </a:spcBef>
              <a:spcAft>
                <a:spcPts val="0"/>
              </a:spcAft>
              <a:buSzPts val="2000"/>
              <a:buChar char="▻"/>
              <a:defRPr sz="2667"/>
            </a:lvl6pPr>
            <a:lvl7pPr marL="4267093" lvl="6" indent="-474121">
              <a:spcBef>
                <a:spcPts val="1333"/>
              </a:spcBef>
              <a:spcAft>
                <a:spcPts val="0"/>
              </a:spcAft>
              <a:buSzPts val="2000"/>
              <a:buChar char="▻"/>
              <a:defRPr sz="2667"/>
            </a:lvl7pPr>
            <a:lvl8pPr marL="4876678" lvl="7" indent="-474121">
              <a:spcBef>
                <a:spcPts val="1333"/>
              </a:spcBef>
              <a:spcAft>
                <a:spcPts val="0"/>
              </a:spcAft>
              <a:buSzPts val="2000"/>
              <a:buChar char="▻"/>
              <a:defRPr sz="2667"/>
            </a:lvl8pPr>
            <a:lvl9pPr marL="5486263" lvl="8" indent="-474121">
              <a:spcBef>
                <a:spcPts val="1333"/>
              </a:spcBef>
              <a:spcAft>
                <a:spcPts val="1333"/>
              </a:spcAft>
              <a:buSzPts val="2000"/>
              <a:buChar char="▻"/>
              <a:defRPr sz="2667"/>
            </a:lvl9pPr>
          </a:lstStyle>
          <a:p>
            <a:endParaRPr/>
          </a:p>
        </p:txBody>
      </p:sp>
      <p:sp>
        <p:nvSpPr>
          <p:cNvPr id="100" name="Google Shape;100;p6"/>
          <p:cNvSpPr txBox="1">
            <a:spLocks noGrp="1"/>
          </p:cNvSpPr>
          <p:nvPr>
            <p:ph type="body" idx="2"/>
          </p:nvPr>
        </p:nvSpPr>
        <p:spPr>
          <a:xfrm>
            <a:off x="5861497" y="2050651"/>
            <a:ext cx="4504400" cy="3632400"/>
          </a:xfrm>
          <a:prstGeom prst="rect">
            <a:avLst/>
          </a:prstGeom>
        </p:spPr>
        <p:txBody>
          <a:bodyPr spcFirstLastPara="1" wrap="square" lIns="91425" tIns="91425" rIns="91425" bIns="91425" anchor="t" anchorCtr="0">
            <a:noAutofit/>
          </a:bodyPr>
          <a:lstStyle>
            <a:lvl1pPr marL="609585" lvl="0" indent="-474121">
              <a:spcBef>
                <a:spcPts val="800"/>
              </a:spcBef>
              <a:spcAft>
                <a:spcPts val="0"/>
              </a:spcAft>
              <a:buSzPts val="2000"/>
              <a:buChar char="▰"/>
              <a:defRPr sz="2667"/>
            </a:lvl1pPr>
            <a:lvl2pPr marL="1219170" lvl="1" indent="-474121">
              <a:spcBef>
                <a:spcPts val="1333"/>
              </a:spcBef>
              <a:spcAft>
                <a:spcPts val="0"/>
              </a:spcAft>
              <a:buSzPts val="2000"/>
              <a:buChar char="▻"/>
              <a:defRPr sz="2667"/>
            </a:lvl2pPr>
            <a:lvl3pPr marL="1828754" lvl="2" indent="-474121">
              <a:spcBef>
                <a:spcPts val="1333"/>
              </a:spcBef>
              <a:spcAft>
                <a:spcPts val="0"/>
              </a:spcAft>
              <a:buSzPts val="2000"/>
              <a:buChar char="▻"/>
              <a:defRPr sz="2667"/>
            </a:lvl3pPr>
            <a:lvl4pPr marL="2438339" lvl="3" indent="-474121">
              <a:spcBef>
                <a:spcPts val="1333"/>
              </a:spcBef>
              <a:spcAft>
                <a:spcPts val="0"/>
              </a:spcAft>
              <a:buSzPts val="2000"/>
              <a:buChar char="▻"/>
              <a:defRPr sz="2667"/>
            </a:lvl4pPr>
            <a:lvl5pPr marL="3047924" lvl="4" indent="-474121">
              <a:spcBef>
                <a:spcPts val="1333"/>
              </a:spcBef>
              <a:spcAft>
                <a:spcPts val="0"/>
              </a:spcAft>
              <a:buSzPts val="2000"/>
              <a:buChar char="▻"/>
              <a:defRPr sz="2667"/>
            </a:lvl5pPr>
            <a:lvl6pPr marL="3657509" lvl="5" indent="-474121">
              <a:spcBef>
                <a:spcPts val="1333"/>
              </a:spcBef>
              <a:spcAft>
                <a:spcPts val="0"/>
              </a:spcAft>
              <a:buSzPts val="2000"/>
              <a:buChar char="▻"/>
              <a:defRPr sz="2667"/>
            </a:lvl6pPr>
            <a:lvl7pPr marL="4267093" lvl="6" indent="-474121">
              <a:spcBef>
                <a:spcPts val="1333"/>
              </a:spcBef>
              <a:spcAft>
                <a:spcPts val="0"/>
              </a:spcAft>
              <a:buSzPts val="2000"/>
              <a:buChar char="▻"/>
              <a:defRPr sz="2667"/>
            </a:lvl7pPr>
            <a:lvl8pPr marL="4876678" lvl="7" indent="-474121">
              <a:spcBef>
                <a:spcPts val="1333"/>
              </a:spcBef>
              <a:spcAft>
                <a:spcPts val="0"/>
              </a:spcAft>
              <a:buSzPts val="2000"/>
              <a:buChar char="▻"/>
              <a:defRPr sz="2667"/>
            </a:lvl8pPr>
            <a:lvl9pPr marL="5486263" lvl="8" indent="-474121">
              <a:spcBef>
                <a:spcPts val="1333"/>
              </a:spcBef>
              <a:spcAft>
                <a:spcPts val="1333"/>
              </a:spcAft>
              <a:buSzPts val="2000"/>
              <a:buChar char="▻"/>
              <a:defRPr sz="2667"/>
            </a:lvl9pPr>
          </a:lstStyle>
          <a:p>
            <a:endParaRPr/>
          </a:p>
        </p:txBody>
      </p:sp>
      <p:sp>
        <p:nvSpPr>
          <p:cNvPr id="101" name="Google Shape;101;p6"/>
          <p:cNvSpPr txBox="1">
            <a:spLocks noGrp="1"/>
          </p:cNvSpPr>
          <p:nvPr>
            <p:ph type="sldNum" idx="12"/>
          </p:nvPr>
        </p:nvSpPr>
        <p:spPr>
          <a:xfrm>
            <a:off x="10157333" y="6182000"/>
            <a:ext cx="19832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14818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9C2CA8-7230-47CD-B504-4FD8FC3F62CB}" type="datetimeFigureOut">
              <a:rPr lang="en-IN" smtClean="0"/>
              <a:t>02-02-2026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7027CF-6B09-4920-B762-71A952D1538C}" type="slidenum">
              <a:rPr lang="en-IN" smtClean="0"/>
              <a:t>‹#›</a:t>
            </a:fld>
            <a:endParaRPr lang="en-IN"/>
          </a:p>
        </p:txBody>
      </p:sp>
    </p:spTree>
    <p:extLst>
      <p:ext uri="{BB962C8B-B14F-4D97-AF65-F5344CB8AC3E}">
        <p14:creationId xmlns:p14="http://schemas.microsoft.com/office/powerpoint/2010/main" val="397427034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prstGeom prst="rect">
            <a:avLst/>
          </a:prstGeom>
        </p:spPr>
        <p:txBody>
          <a:bodyPr spcFirstLastPara="1" vert="horz" wrap="square" lIns="121900" tIns="121900" rIns="121900" bIns="121900" rtlCol="0" anchor="ctr" anchorCtr="0">
            <a:noAutofit/>
          </a:bodyPr>
          <a:lstStyle/>
          <a:p>
            <a:r>
              <a:rPr lang="en-US" sz="3200" b="1" dirty="0">
                <a:latin typeface="Times New Roman" panose="02020603050405020304" pitchFamily="18" charset="0"/>
                <a:cs typeface="Times New Roman" panose="02020603050405020304" pitchFamily="18" charset="0"/>
              </a:rPr>
              <a:t>Adaptive Financial Security Framework: Implementing Advanced QR-Based Authentication to Prevent Unauthorized ATM Transactions.</a:t>
            </a:r>
          </a:p>
        </p:txBody>
      </p:sp>
      <p:sp>
        <p:nvSpPr>
          <p:cNvPr id="2" name="Subtitle 1">
            <a:extLst>
              <a:ext uri="{FF2B5EF4-FFF2-40B4-BE49-F238E27FC236}">
                <a16:creationId xmlns:a16="http://schemas.microsoft.com/office/drawing/2014/main" id="{525296D3-BFFA-AF87-6F13-332C28CC0F8E}"/>
              </a:ext>
            </a:extLst>
          </p:cNvPr>
          <p:cNvSpPr>
            <a:spLocks noGrp="1"/>
          </p:cNvSpPr>
          <p:nvPr>
            <p:ph type="subTitle" idx="1"/>
          </p:nvPr>
        </p:nvSpPr>
        <p:spPr>
          <a:xfrm>
            <a:off x="1524000" y="3348567"/>
            <a:ext cx="9144000" cy="2053166"/>
          </a:xfrm>
        </p:spPr>
        <p:txBody>
          <a:bodyPr>
            <a:normAutofit fontScale="92500" lnSpcReduction="20000"/>
          </a:bodyPr>
          <a:lstStyle/>
          <a:p>
            <a:pPr>
              <a:lnSpc>
                <a:spcPct val="100000"/>
              </a:lnSpc>
            </a:pPr>
            <a:r>
              <a:rPr lang="en-IN" b="1" dirty="0">
                <a:latin typeface="Times New Roman" panose="02020603050405020304" pitchFamily="18" charset="0"/>
                <a:cs typeface="Times New Roman" panose="02020603050405020304" pitchFamily="18" charset="0"/>
              </a:rPr>
              <a:t>SURYA PRAKASH R (412021205004)	</a:t>
            </a:r>
          </a:p>
          <a:p>
            <a:r>
              <a:rPr lang="en-IN" b="1" dirty="0">
                <a:latin typeface="Times New Roman" panose="02020603050405020304" pitchFamily="18" charset="0"/>
                <a:cs typeface="Times New Roman" panose="02020603050405020304" pitchFamily="18" charset="0"/>
              </a:rPr>
              <a:t>          </a:t>
            </a:r>
            <a:r>
              <a:rPr lang="en-IN" b="1" dirty="0"/>
              <a:t>                                        </a:t>
            </a:r>
          </a:p>
          <a:p>
            <a:endParaRPr lang="en-IN" b="1" dirty="0"/>
          </a:p>
          <a:p>
            <a:r>
              <a:rPr lang="en-IN" b="1" dirty="0"/>
              <a:t>                                 GUIDED BY</a:t>
            </a:r>
          </a:p>
          <a:p>
            <a:pPr algn="r">
              <a:lnSpc>
                <a:spcPct val="107000"/>
              </a:lnSpc>
              <a:spcAft>
                <a:spcPts val="800"/>
              </a:spcAft>
            </a:pP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Prof.Dr.S.N</a:t>
            </a:r>
            <a:r>
              <a:rPr lang="en-US" sz="2100" b="1" dirty="0">
                <a:latin typeface="Times New Roman" panose="02020603050405020304" pitchFamily="18" charset="0"/>
                <a:cs typeface="Times New Roman" panose="02020603050405020304" pitchFamily="18" charset="0"/>
              </a:rPr>
              <a:t> SHEELA EVANGELIN PRASAD.,</a:t>
            </a: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prstGeom prst="rect">
            <a:avLst/>
          </a:prstGeom>
        </p:spPr>
        <p:txBody>
          <a:bodyPr spcFirstLastPara="1" vert="horz" wrap="square" lIns="121900" tIns="121900" rIns="121900" bIns="121900" rtlCol="0" anchor="ctr" anchorCtr="0">
            <a:noAutofit/>
          </a:bodyPr>
          <a:lstStyle/>
          <a:p>
            <a:r>
              <a:rPr lang="en-IN" b="1" dirty="0">
                <a:latin typeface="Times New Roman" panose="02020603050405020304" pitchFamily="18" charset="0"/>
                <a:cs typeface="Times New Roman" panose="02020603050405020304" pitchFamily="18" charset="0"/>
              </a:rPr>
              <a:t>ABSTRACT</a:t>
            </a:r>
            <a:endParaRPr b="1" dirty="0"/>
          </a:p>
        </p:txBody>
      </p:sp>
      <p:sp>
        <p:nvSpPr>
          <p:cNvPr id="193" name="Google Shape;193;p12"/>
          <p:cNvSpPr txBox="1">
            <a:spLocks noGrp="1"/>
          </p:cNvSpPr>
          <p:nvPr>
            <p:ph type="body" idx="1"/>
          </p:nvPr>
        </p:nvSpPr>
        <p:spPr>
          <a:xfrm>
            <a:off x="291432" y="1596784"/>
            <a:ext cx="10990643" cy="4922663"/>
          </a:xfrm>
          <a:prstGeom prst="rect">
            <a:avLst/>
          </a:prstGeom>
        </p:spPr>
        <p:txBody>
          <a:bodyPr spcFirstLastPara="1" vert="horz" wrap="square" lIns="121900" tIns="121900" rIns="121900" bIns="121900" rtlCol="0" anchor="t" anchorCtr="0">
            <a:noAutofit/>
          </a:bodyPr>
          <a:lstStyle/>
          <a:p>
            <a:pPr marL="135464" indent="0" algn="just">
              <a:lnSpc>
                <a:spcPct val="150000"/>
              </a:lnSpc>
              <a:buNone/>
            </a:pPr>
            <a:r>
              <a:rPr lang="en-US" sz="1800" dirty="0">
                <a:latin typeface="Times New Roman" panose="02020603050405020304" pitchFamily="18" charset="0"/>
                <a:cs typeface="Times New Roman" panose="02020603050405020304" pitchFamily="18" charset="0"/>
              </a:rPr>
              <a:t>This project introduces a Smart QR-Based ATM system aimed at making banking faster and more secure. Traditional ATM transactions using cards and PINs are often slow and vulnerable to fraud. To solve this, our system allows users to use a mobile app to enter the withdrawal amount and generate a temporary PIN and a QR code. The QR code, containing transaction details, is scanned at the ATM for a quick and secure withdrawal within 30 seconds. Using Python for QR code generation and scanning, the system offers a safe, efficient, and user-friendly alternative to traditional methods, enhancing both security and user experience. It reduces the chances of unauthorized access and ensures that transactions are completed with minimal contact and maximum convenience. This approach modernizes ATM usage, aligning with the evolving needs of digital banking. Additionally, it supports faster service at ATM terminals and minimizes physical </a:t>
            </a:r>
            <a:r>
              <a:rPr lang="en-US" sz="1800" dirty="0" err="1">
                <a:latin typeface="Times New Roman" panose="02020603050405020304" pitchFamily="18" charset="0"/>
                <a:cs typeface="Times New Roman" panose="02020603050405020304" pitchFamily="18" charset="0"/>
              </a:rPr>
              <a:t>touchpoints</a:t>
            </a:r>
            <a:r>
              <a:rPr lang="en-US" sz="1800" dirty="0">
                <a:latin typeface="Times New Roman" panose="02020603050405020304" pitchFamily="18" charset="0"/>
                <a:cs typeface="Times New Roman" panose="02020603050405020304" pitchFamily="18" charset="0"/>
              </a:rPr>
              <a:t>, making it ideal for both security and hygiene. The system represents a step forward in smart banking by combining technology, safety, and user-centered design.</a:t>
            </a:r>
          </a:p>
          <a:p>
            <a:pPr marL="135464"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sp>
        <p:nvSpPr>
          <p:cNvPr id="192" name="Google Shape;192;p12"/>
          <p:cNvSpPr txBox="1">
            <a:spLocks noGrp="1"/>
          </p:cNvSpPr>
          <p:nvPr>
            <p:ph type="sldNum"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2</a:t>
            </a:fld>
            <a:endParaRPr dirty="0"/>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Tree>
    <p:extLst>
      <p:ext uri="{BB962C8B-B14F-4D97-AF65-F5344CB8AC3E}">
        <p14:creationId xmlns:p14="http://schemas.microsoft.com/office/powerpoint/2010/main" val="509157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prstGeom prst="rect">
            <a:avLst/>
          </a:prstGeom>
        </p:spPr>
        <p:txBody>
          <a:bodyPr spcFirstLastPara="1" vert="horz" wrap="square" lIns="121900" tIns="121900" rIns="121900" bIns="121900" rtlCol="0" anchor="ctr" anchorCtr="0">
            <a:noAutofit/>
          </a:bodyPr>
          <a:lstStyle/>
          <a:p>
            <a:r>
              <a:rPr lang="en-US" b="1" dirty="0">
                <a:latin typeface="Times New Roman" pitchFamily="18" charset="0"/>
                <a:cs typeface="Times New Roman" pitchFamily="18" charset="0"/>
              </a:rPr>
              <a:t>INTRODUCTION	</a:t>
            </a:r>
            <a:endParaRPr b="1" dirty="0"/>
          </a:p>
        </p:txBody>
      </p:sp>
      <p:sp>
        <p:nvSpPr>
          <p:cNvPr id="193" name="Google Shape;193;p12"/>
          <p:cNvSpPr txBox="1">
            <a:spLocks noGrp="1"/>
          </p:cNvSpPr>
          <p:nvPr>
            <p:ph type="body" idx="1"/>
          </p:nvPr>
        </p:nvSpPr>
        <p:spPr>
          <a:xfrm>
            <a:off x="258228" y="1781330"/>
            <a:ext cx="10977731" cy="4821470"/>
          </a:xfrm>
          <a:prstGeom prst="rect">
            <a:avLst/>
          </a:prstGeom>
        </p:spPr>
        <p:txBody>
          <a:bodyPr spcFirstLastPara="1" vert="horz" wrap="square" lIns="121900" tIns="121900" rIns="121900" bIns="121900" rtlCol="0" anchor="t" anchorCtr="0">
            <a:noAutofit/>
          </a:bodyPr>
          <a:lstStyle/>
          <a:p>
            <a:pPr marL="135464" indent="0" algn="just">
              <a:lnSpc>
                <a:spcPct val="150000"/>
              </a:lnSpc>
              <a:buNone/>
            </a:pPr>
            <a:r>
              <a:rPr lang="en-US" sz="1800" dirty="0">
                <a:latin typeface="Times New Roman" panose="02020603050405020304" pitchFamily="18" charset="0"/>
                <a:cs typeface="Times New Roman" panose="02020603050405020304" pitchFamily="18" charset="0"/>
              </a:rPr>
              <a:t>Today, digital banking has made it easier for people to manage their money. ATMs are still widely used, but the usual method of using cards and PINs can be slow and unsafe.</a:t>
            </a:r>
          </a:p>
          <a:p>
            <a:pPr marL="135464" indent="0" algn="just">
              <a:lnSpc>
                <a:spcPct val="150000"/>
              </a:lnSpc>
              <a:buNone/>
            </a:pPr>
            <a:r>
              <a:rPr lang="en-US" sz="1800" dirty="0">
                <a:latin typeface="Times New Roman" panose="02020603050405020304" pitchFamily="18" charset="0"/>
                <a:cs typeface="Times New Roman" panose="02020603050405020304" pitchFamily="18" charset="0"/>
              </a:rPr>
              <a:t>To make ATM use faster and more secure, this project introduces a Smart QR-Based ATM system. Instead of using a card, users will use a mobile app to enter the amount they want and get a temporary PIN and QR code.</a:t>
            </a:r>
          </a:p>
          <a:p>
            <a:pPr marL="135464" indent="0" algn="just">
              <a:lnSpc>
                <a:spcPct val="150000"/>
              </a:lnSpc>
              <a:buNone/>
            </a:pPr>
            <a:r>
              <a:rPr lang="en-US" sz="1800" dirty="0">
                <a:latin typeface="Times New Roman" panose="02020603050405020304" pitchFamily="18" charset="0"/>
                <a:cs typeface="Times New Roman" panose="02020603050405020304" pitchFamily="18" charset="0"/>
              </a:rPr>
              <a:t>This QR code is scanned at the ATM, and the user enters the PIN to complete the transaction in less than 30 seconds. This helps stop fraud like card skimming and saves time.</a:t>
            </a:r>
          </a:p>
          <a:p>
            <a:pPr marL="135464" indent="0" algn="just">
              <a:lnSpc>
                <a:spcPct val="150000"/>
              </a:lnSpc>
              <a:buNone/>
            </a:pPr>
            <a:r>
              <a:rPr lang="en-US" sz="1800" dirty="0">
                <a:latin typeface="Times New Roman" panose="02020603050405020304" pitchFamily="18" charset="0"/>
                <a:cs typeface="Times New Roman" panose="02020603050405020304" pitchFamily="18" charset="0"/>
              </a:rPr>
              <a:t>The system uses Python to create and read QR codes, making it simple and effective. It also reduces the need for physical contact, making ATM use safer during health-sensitive times. This project aims to improve the way people access cash with speed, safety, and ease.</a:t>
            </a:r>
          </a:p>
        </p:txBody>
      </p:sp>
      <p:sp>
        <p:nvSpPr>
          <p:cNvPr id="192" name="Google Shape;192;p12"/>
          <p:cNvSpPr txBox="1">
            <a:spLocks noGrp="1"/>
          </p:cNvSpPr>
          <p:nvPr>
            <p:ph type="sldNum"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3</a:t>
            </a:fld>
            <a:endParaRPr dirty="0"/>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Tree>
    <p:extLst>
      <p:ext uri="{BB962C8B-B14F-4D97-AF65-F5344CB8AC3E}">
        <p14:creationId xmlns:p14="http://schemas.microsoft.com/office/powerpoint/2010/main" val="244704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prstGeom prst="rect">
            <a:avLst/>
          </a:prstGeom>
        </p:spPr>
        <p:txBody>
          <a:bodyPr spcFirstLastPara="1" vert="horz" wrap="square" lIns="121900" tIns="121900" rIns="121900" bIns="121900" rtlCol="0" anchor="ctr" anchorCtr="0">
            <a:noAutofit/>
          </a:bodyPr>
          <a:lstStyle/>
          <a:p>
            <a:r>
              <a:rPr lang="en-US" b="1" dirty="0">
                <a:latin typeface="Times New Roman" pitchFamily="18" charset="0"/>
                <a:cs typeface="Times New Roman" pitchFamily="18" charset="0"/>
              </a:rPr>
              <a:t>EXISTING SYSTEM</a:t>
            </a:r>
            <a:endParaRPr lang="en-US" b="1" dirty="0"/>
          </a:p>
        </p:txBody>
      </p:sp>
      <p:sp>
        <p:nvSpPr>
          <p:cNvPr id="193" name="Google Shape;193;p12"/>
          <p:cNvSpPr txBox="1">
            <a:spLocks noGrp="1"/>
          </p:cNvSpPr>
          <p:nvPr>
            <p:ph type="body" idx="1"/>
          </p:nvPr>
        </p:nvSpPr>
        <p:spPr>
          <a:xfrm>
            <a:off x="729220" y="1739757"/>
            <a:ext cx="9496605" cy="4360101"/>
          </a:xfrm>
          <a:prstGeom prst="rect">
            <a:avLst/>
          </a:prstGeom>
        </p:spPr>
        <p:txBody>
          <a:bodyPr spcFirstLastPara="1" vert="horz" wrap="square" lIns="121900" tIns="121900" rIns="121900" bIns="121900" rtlCol="0" anchor="t" anchorCtr="0">
            <a:noAutofit/>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current ATM system requires users to insert their bank card and enter a PIN to withdraw cash. Although this method has been used for many years, it has several drawbacks. The process is often slow because users must go through many steps, which can be confusing for elderly people or those using the ATM for the first time. ATMs also get crowded during busy hours, leading to long waiting times. In terms of security, traditional ATMs are not very safe. Criminals can use hidden devices to steal card information, and PINs can be seen by others or captured by hidden cameras. If someone gets both the card and PIN, they can withdraw money without the user’s permission. Another issue is that users rely on physical cards, which can be lost, stolen, or damaged. Lastly, traditional ATMs only offer basic features like balance inquiry and cash withdrawal. They do not connect with mobile apps or digital wallets, making it harder for users to manage their accounts in real-time.</a:t>
            </a:r>
          </a:p>
        </p:txBody>
      </p:sp>
      <p:sp>
        <p:nvSpPr>
          <p:cNvPr id="192" name="Google Shape;192;p12"/>
          <p:cNvSpPr txBox="1">
            <a:spLocks noGrp="1"/>
          </p:cNvSpPr>
          <p:nvPr>
            <p:ph type="sldNum" idx="12"/>
          </p:nvPr>
        </p:nvSpPr>
        <p:spPr>
          <a:prstGeom prst="rect">
            <a:avLst/>
          </a:prstGeom>
        </p:spPr>
        <p:txBody>
          <a:bodyPr spcFirstLastPara="1" vert="horz" wrap="square" lIns="121900" tIns="121900" rIns="121900" bIns="121900" rtlCol="0" anchor="ctr" anchorCtr="0">
            <a:noAutofit/>
          </a:bodyPr>
          <a:lstStyle/>
          <a:p>
            <a:fld id="{00000000-1234-1234-1234-123412341234}" type="slidenum">
              <a:rPr lang="en"/>
              <a:pPr/>
              <a:t>4</a:t>
            </a:fld>
            <a:endParaRPr dirty="0"/>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Tree>
    <p:extLst>
      <p:ext uri="{BB962C8B-B14F-4D97-AF65-F5344CB8AC3E}">
        <p14:creationId xmlns:p14="http://schemas.microsoft.com/office/powerpoint/2010/main" val="1718527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151" y="523433"/>
            <a:ext cx="7672749" cy="1021600"/>
          </a:xfrm>
        </p:spPr>
        <p:txBody>
          <a:bodyPr/>
          <a:lstStyle/>
          <a:p>
            <a:r>
              <a:rPr lang="en-US" b="1" dirty="0">
                <a:latin typeface="Times New Roman" panose="02020603050405020304" pitchFamily="18" charset="0"/>
                <a:cs typeface="Times New Roman" panose="02020603050405020304" pitchFamily="18" charset="0"/>
              </a:rPr>
              <a:t>DISADVANTAGE</a:t>
            </a:r>
            <a:endParaRPr lang="en-IN" b="1" dirty="0"/>
          </a:p>
        </p:txBody>
      </p:sp>
      <p:sp>
        <p:nvSpPr>
          <p:cNvPr id="3" name="Text Placeholder 2"/>
          <p:cNvSpPr>
            <a:spLocks noGrp="1"/>
          </p:cNvSpPr>
          <p:nvPr>
            <p:ph type="body" idx="1"/>
          </p:nvPr>
        </p:nvSpPr>
        <p:spPr>
          <a:xfrm>
            <a:off x="424151" y="1835875"/>
            <a:ext cx="11076072" cy="3890368"/>
          </a:xfrm>
        </p:spPr>
        <p:txBody>
          <a:bodyPr/>
          <a:lstStyle/>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Time-Consuming Process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Users must follow multiple steps like inserting a card, entering a PIN, and selecting options, which takes time and can cause delays, especially during peak hours.</a:t>
            </a: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Security Risks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Traditional ATMs are vulnerable to card skimming, PIN theft, and fraud if someone gains access to both the card and the PIN.</a:t>
            </a: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Dependence on Physical Cards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If a card is lost, stolen, damaged, or expired, users cannot access their money until they get a replacement, which may take time and involve extra charges.</a:t>
            </a:r>
          </a:p>
        </p:txBody>
      </p:sp>
      <p:sp>
        <p:nvSpPr>
          <p:cNvPr id="5" name="Slide Number Placeholder 4"/>
          <p:cNvSpPr>
            <a:spLocks noGrp="1"/>
          </p:cNvSpPr>
          <p:nvPr>
            <p:ph type="sldNum" idx="12"/>
          </p:nvPr>
        </p:nvSpPr>
        <p:spPr/>
        <p:txBody>
          <a:bodyPr/>
          <a:lstStyle/>
          <a:p>
            <a:fld id="{00000000-1234-1234-1234-123412341234}" type="slidenum">
              <a:rPr lang="en" smtClean="0"/>
              <a:pPr/>
              <a:t>5</a:t>
            </a:fld>
            <a:endParaRPr lang="en"/>
          </a:p>
        </p:txBody>
      </p:sp>
    </p:spTree>
    <p:extLst>
      <p:ext uri="{BB962C8B-B14F-4D97-AF65-F5344CB8AC3E}">
        <p14:creationId xmlns:p14="http://schemas.microsoft.com/office/powerpoint/2010/main" val="271736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151" y="523433"/>
            <a:ext cx="7672749" cy="1021600"/>
          </a:xfrm>
        </p:spPr>
        <p:txBody>
          <a:bodyPr/>
          <a:lstStyle/>
          <a:p>
            <a:r>
              <a:rPr lang="en-US" b="1" dirty="0">
                <a:latin typeface="Times New Roman" panose="02020603050405020304" pitchFamily="18" charset="0"/>
                <a:cs typeface="Times New Roman" panose="02020603050405020304" pitchFamily="18" charset="0"/>
              </a:rPr>
              <a:t>LITERATURE SURVEY</a:t>
            </a:r>
            <a:endParaRPr lang="en-IN" b="1" dirty="0"/>
          </a:p>
        </p:txBody>
      </p:sp>
      <p:sp>
        <p:nvSpPr>
          <p:cNvPr id="3" name="Text Placeholder 2"/>
          <p:cNvSpPr>
            <a:spLocks noGrp="1"/>
          </p:cNvSpPr>
          <p:nvPr>
            <p:ph type="body" idx="1"/>
          </p:nvPr>
        </p:nvSpPr>
        <p:spPr>
          <a:xfrm>
            <a:off x="424151" y="1835875"/>
            <a:ext cx="11076072" cy="3890368"/>
          </a:xfrm>
        </p:spPr>
        <p:txBody>
          <a:bodyPr/>
          <a:lstStyle/>
          <a:p>
            <a:pPr marL="135464"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6</a:t>
            </a:fld>
            <a:endParaRPr lang="en"/>
          </a:p>
        </p:txBody>
      </p:sp>
      <p:graphicFrame>
        <p:nvGraphicFramePr>
          <p:cNvPr id="6" name="Table 6">
            <a:extLst>
              <a:ext uri="{FF2B5EF4-FFF2-40B4-BE49-F238E27FC236}">
                <a16:creationId xmlns:a16="http://schemas.microsoft.com/office/drawing/2014/main" id="{1AB39E6D-F5F3-F926-1045-F6DCA4B77DE5}"/>
              </a:ext>
            </a:extLst>
          </p:cNvPr>
          <p:cNvGraphicFramePr>
            <a:graphicFrameLocks noGrp="1"/>
          </p:cNvGraphicFramePr>
          <p:nvPr>
            <p:extLst>
              <p:ext uri="{D42A27DB-BD31-4B8C-83A1-F6EECF244321}">
                <p14:modId xmlns:p14="http://schemas.microsoft.com/office/powerpoint/2010/main" val="2365944190"/>
              </p:ext>
            </p:extLst>
          </p:nvPr>
        </p:nvGraphicFramePr>
        <p:xfrm>
          <a:off x="424150" y="1835875"/>
          <a:ext cx="11076071" cy="4299348"/>
        </p:xfrm>
        <a:graphic>
          <a:graphicData uri="http://schemas.openxmlformats.org/drawingml/2006/table">
            <a:tbl>
              <a:tblPr firstRow="1" bandRow="1">
                <a:tableStyleId>{5C22544A-7EE6-4342-B048-85BDC9FD1C3A}</a:tableStyleId>
              </a:tblPr>
              <a:tblGrid>
                <a:gridCol w="854317">
                  <a:extLst>
                    <a:ext uri="{9D8B030D-6E8A-4147-A177-3AD203B41FA5}">
                      <a16:colId xmlns:a16="http://schemas.microsoft.com/office/drawing/2014/main" val="3035587495"/>
                    </a:ext>
                  </a:extLst>
                </a:gridCol>
                <a:gridCol w="4902200">
                  <a:extLst>
                    <a:ext uri="{9D8B030D-6E8A-4147-A177-3AD203B41FA5}">
                      <a16:colId xmlns:a16="http://schemas.microsoft.com/office/drawing/2014/main" val="2029997823"/>
                    </a:ext>
                  </a:extLst>
                </a:gridCol>
                <a:gridCol w="5319554">
                  <a:extLst>
                    <a:ext uri="{9D8B030D-6E8A-4147-A177-3AD203B41FA5}">
                      <a16:colId xmlns:a16="http://schemas.microsoft.com/office/drawing/2014/main" val="1736413961"/>
                    </a:ext>
                  </a:extLst>
                </a:gridCol>
              </a:tblGrid>
              <a:tr h="778074">
                <a:tc>
                  <a:txBody>
                    <a:bodyPr/>
                    <a:lstStyle/>
                    <a:p>
                      <a:r>
                        <a:rPr lang="en-IN" dirty="0"/>
                        <a:t>S.NO</a:t>
                      </a:r>
                    </a:p>
                  </a:txBody>
                  <a:tcPr/>
                </a:tc>
                <a:tc>
                  <a:txBody>
                    <a:bodyPr/>
                    <a:lstStyle/>
                    <a:p>
                      <a:r>
                        <a:rPr lang="en-IN" dirty="0"/>
                        <a:t>                                               TITLE</a:t>
                      </a:r>
                    </a:p>
                  </a:txBody>
                  <a:tcPr/>
                </a:tc>
                <a:tc>
                  <a:txBody>
                    <a:bodyPr/>
                    <a:lstStyle/>
                    <a:p>
                      <a:r>
                        <a:rPr lang="en-IN" dirty="0"/>
                        <a:t>               DISADVANTAGE</a:t>
                      </a:r>
                    </a:p>
                  </a:txBody>
                  <a:tcPr/>
                </a:tc>
                <a:extLst>
                  <a:ext uri="{0D108BD9-81ED-4DB2-BD59-A6C34878D82A}">
                    <a16:rowId xmlns:a16="http://schemas.microsoft.com/office/drawing/2014/main" val="2795596500"/>
                  </a:ext>
                </a:extLst>
              </a:tr>
              <a:tr h="778074">
                <a:tc>
                  <a:txBody>
                    <a:bodyPr/>
                    <a:lstStyle/>
                    <a:p>
                      <a:r>
                        <a:rPr lang="en-IN" dirty="0"/>
                        <a:t>1</a:t>
                      </a:r>
                    </a:p>
                  </a:txBody>
                  <a:tcPr/>
                </a:tc>
                <a:tc>
                  <a:txBody>
                    <a:bodyPr/>
                    <a:lstStyle/>
                    <a:p>
                      <a:r>
                        <a:rPr lang="en-US" dirty="0"/>
                        <a:t>Invasion And Evolution Of QR Code</a:t>
                      </a:r>
                      <a:endParaRPr lang="en-IN" b="0" dirty="0"/>
                    </a:p>
                  </a:txBody>
                  <a:tcPr/>
                </a:tc>
                <a:tc>
                  <a:txBody>
                    <a:bodyPr/>
                    <a:lstStyle/>
                    <a:p>
                      <a:pPr algn="just"/>
                      <a:r>
                        <a:rPr lang="en-US" dirty="0"/>
                        <a:t>QR codes can be unsafe if not checked properly, as they may lead to fake links or steal personal information.</a:t>
                      </a:r>
                    </a:p>
                  </a:txBody>
                  <a:tcPr/>
                </a:tc>
                <a:extLst>
                  <a:ext uri="{0D108BD9-81ED-4DB2-BD59-A6C34878D82A}">
                    <a16:rowId xmlns:a16="http://schemas.microsoft.com/office/drawing/2014/main" val="1730855870"/>
                  </a:ext>
                </a:extLst>
              </a:tr>
              <a:tr h="778074">
                <a:tc>
                  <a:txBody>
                    <a:bodyPr/>
                    <a:lstStyle/>
                    <a:p>
                      <a:r>
                        <a:rPr lang="en-IN" dirty="0"/>
                        <a:t>2</a:t>
                      </a:r>
                    </a:p>
                  </a:txBody>
                  <a:tcPr/>
                </a:tc>
                <a:tc>
                  <a:txBody>
                    <a:bodyPr/>
                    <a:lstStyle/>
                    <a:p>
                      <a:r>
                        <a:rPr lang="en-US" dirty="0"/>
                        <a:t>Unique System For Robotic Localization Using QR</a:t>
                      </a:r>
                      <a:r>
                        <a:rPr lang="en-US" baseline="0" dirty="0"/>
                        <a:t> </a:t>
                      </a:r>
                      <a:r>
                        <a:rPr lang="en-US" dirty="0"/>
                        <a:t>Markers In Indoor Environments</a:t>
                      </a:r>
                      <a:endParaRPr lang="en-IN" b="0" dirty="0"/>
                    </a:p>
                  </a:txBody>
                  <a:tcPr/>
                </a:tc>
                <a:tc>
                  <a:txBody>
                    <a:bodyPr/>
                    <a:lstStyle/>
                    <a:p>
                      <a:pPr algn="just"/>
                      <a:r>
                        <a:rPr lang="en-US" dirty="0"/>
                        <a:t>The system may not work well if QR markers are hard to see due to poor lighting, obstacles, or damage..</a:t>
                      </a:r>
                      <a:endParaRPr lang="en-IN" dirty="0"/>
                    </a:p>
                  </a:txBody>
                  <a:tcPr/>
                </a:tc>
                <a:extLst>
                  <a:ext uri="{0D108BD9-81ED-4DB2-BD59-A6C34878D82A}">
                    <a16:rowId xmlns:a16="http://schemas.microsoft.com/office/drawing/2014/main" val="2545039649"/>
                  </a:ext>
                </a:extLst>
              </a:tr>
              <a:tr h="913791">
                <a:tc>
                  <a:txBody>
                    <a:bodyPr/>
                    <a:lstStyle/>
                    <a:p>
                      <a:r>
                        <a:rPr lang="en-IN" dirty="0"/>
                        <a:t>3</a:t>
                      </a:r>
                    </a:p>
                  </a:txBody>
                  <a:tcPr/>
                </a:tc>
                <a:tc>
                  <a:txBody>
                    <a:bodyPr/>
                    <a:lstStyle/>
                    <a:p>
                      <a:r>
                        <a:rPr lang="en-US" dirty="0"/>
                        <a:t>Streaming QR codes</a:t>
                      </a:r>
                      <a:r>
                        <a:rPr lang="en-IN" sz="1800" kern="1200" dirty="0">
                          <a:solidFill>
                            <a:schemeClr val="dk1"/>
                          </a:solidFill>
                          <a:effectLst/>
                          <a:latin typeface="+mn-lt"/>
                          <a:ea typeface="+mn-ea"/>
                          <a:cs typeface="+mn-cs"/>
                        </a:rPr>
                        <a:t> </a:t>
                      </a:r>
                    </a:p>
                    <a:p>
                      <a:endParaRPr lang="en-IN" dirty="0"/>
                    </a:p>
                  </a:txBody>
                  <a:tcPr/>
                </a:tc>
                <a:tc>
                  <a:txBody>
                    <a:bodyPr/>
                    <a:lstStyle/>
                    <a:p>
                      <a:pPr algn="just"/>
                      <a:r>
                        <a:rPr lang="en-IN" dirty="0"/>
                        <a:t> </a:t>
                      </a:r>
                      <a:r>
                        <a:rPr lang="en-US" dirty="0"/>
                        <a:t>Streaming QR codes may not work properly if the camera is shaky, the lighting is poor, or the network is slow.</a:t>
                      </a:r>
                      <a:endParaRPr lang="en-IN" dirty="0"/>
                    </a:p>
                  </a:txBody>
                  <a:tcPr/>
                </a:tc>
                <a:extLst>
                  <a:ext uri="{0D108BD9-81ED-4DB2-BD59-A6C34878D82A}">
                    <a16:rowId xmlns:a16="http://schemas.microsoft.com/office/drawing/2014/main" val="3577003439"/>
                  </a:ext>
                </a:extLst>
              </a:tr>
              <a:tr h="778074">
                <a:tc>
                  <a:txBody>
                    <a:bodyPr/>
                    <a:lstStyle/>
                    <a:p>
                      <a:r>
                        <a:rPr lang="en-IN" dirty="0"/>
                        <a:t>4</a:t>
                      </a:r>
                    </a:p>
                  </a:txBody>
                  <a:tcPr/>
                </a:tc>
                <a:tc>
                  <a:txBody>
                    <a:bodyPr/>
                    <a:lstStyle/>
                    <a:p>
                      <a:r>
                        <a:rPr lang="en-US" dirty="0"/>
                        <a:t>Urban Cleanliness Using Technology</a:t>
                      </a:r>
                      <a:endParaRPr lang="en-IN" b="0" dirty="0"/>
                    </a:p>
                  </a:txBody>
                  <a:tcPr/>
                </a:tc>
                <a:tc>
                  <a:txBody>
                    <a:bodyPr/>
                    <a:lstStyle/>
                    <a:p>
                      <a:r>
                        <a:rPr lang="en-US" dirty="0"/>
                        <a:t>Relying on technology for urban cleanliness may fail due to high costs, technical issues, or lack of proper maintenance and user awareness.</a:t>
                      </a:r>
                    </a:p>
                  </a:txBody>
                  <a:tcPr/>
                </a:tc>
                <a:extLst>
                  <a:ext uri="{0D108BD9-81ED-4DB2-BD59-A6C34878D82A}">
                    <a16:rowId xmlns:a16="http://schemas.microsoft.com/office/drawing/2014/main" val="4106431918"/>
                  </a:ext>
                </a:extLst>
              </a:tr>
            </a:tbl>
          </a:graphicData>
        </a:graphic>
      </p:graphicFrame>
    </p:spTree>
    <p:extLst>
      <p:ext uri="{BB962C8B-B14F-4D97-AF65-F5344CB8AC3E}">
        <p14:creationId xmlns:p14="http://schemas.microsoft.com/office/powerpoint/2010/main" val="2432322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716" y="523433"/>
            <a:ext cx="7869184" cy="1021600"/>
          </a:xfrm>
        </p:spPr>
        <p:txBody>
          <a:bodyPr/>
          <a:lstStyle/>
          <a:p>
            <a:r>
              <a:rPr lang="en-IN" dirty="0"/>
              <a:t>   </a:t>
            </a:r>
            <a:r>
              <a:rPr lang="en-IN" b="1" dirty="0">
                <a:latin typeface="Times New Roman" panose="02020603050405020304" pitchFamily="18" charset="0"/>
                <a:cs typeface="Times New Roman" pitchFamily="18" charset="0"/>
              </a:rPr>
              <a:t>PROPOSED  SYSTEM</a:t>
            </a:r>
          </a:p>
        </p:txBody>
      </p:sp>
      <p:sp>
        <p:nvSpPr>
          <p:cNvPr id="3" name="Text Placeholder 2"/>
          <p:cNvSpPr>
            <a:spLocks noGrp="1"/>
          </p:cNvSpPr>
          <p:nvPr>
            <p:ph type="body" idx="1"/>
          </p:nvPr>
        </p:nvSpPr>
        <p:spPr>
          <a:xfrm>
            <a:off x="217206" y="1418897"/>
            <a:ext cx="11397465" cy="5265682"/>
          </a:xfrm>
        </p:spPr>
        <p:txBody>
          <a:bodyPr/>
          <a:lstStyle/>
          <a:p>
            <a:pPr>
              <a:buFont typeface="Wingdings" panose="05000000000000000000" pitchFamily="2" charset="2"/>
              <a:buChar char="Ø"/>
            </a:pPr>
            <a:endParaRPr lang="en-US" sz="1800" dirty="0"/>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proposed Smart QR-Based ATM system uses modern technology to improve the traditional ATM process by making it faster, safer, and easier to use. Instead of inserting a card and entering a PIN, users can simply use a mobile app to start a withdrawal. Through the app, they can log in securely and choose the amount they want to withdraw before reaching the ATM. The app then creates a special one-time PIN that works only for a short time, adding extra protection against PIN theft. It also generates a secure QR code with the transaction details. At the ATM, the user scans this QR code to quickly complete the transaction without using a card or typing a PIN. This system reduces waiting time, improves safety, and offers a smooth user experience. It also helps avoid physical contact with ATM surfaces, which is especially useful for hygiene. Overall, this system brings ATM usage in line with modern digital banking standards.</a:t>
            </a:r>
          </a:p>
        </p:txBody>
      </p:sp>
      <p:sp>
        <p:nvSpPr>
          <p:cNvPr id="5" name="Slide Number Placeholder 4"/>
          <p:cNvSpPr>
            <a:spLocks noGrp="1"/>
          </p:cNvSpPr>
          <p:nvPr>
            <p:ph type="sldNum" idx="12"/>
          </p:nvPr>
        </p:nvSpPr>
        <p:spPr/>
        <p:txBody>
          <a:bodyPr/>
          <a:lstStyle/>
          <a:p>
            <a:fld id="{00000000-1234-1234-1234-123412341234}" type="slidenum">
              <a:rPr lang="en" smtClean="0"/>
              <a:pPr/>
              <a:t>7</a:t>
            </a:fld>
            <a:endParaRPr lang="en"/>
          </a:p>
        </p:txBody>
      </p:sp>
    </p:spTree>
    <p:extLst>
      <p:ext uri="{BB962C8B-B14F-4D97-AF65-F5344CB8AC3E}">
        <p14:creationId xmlns:p14="http://schemas.microsoft.com/office/powerpoint/2010/main" val="1755141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455" y="523433"/>
            <a:ext cx="7730445" cy="1021600"/>
          </a:xfrm>
        </p:spPr>
        <p:txBody>
          <a:bodyPr/>
          <a:lstStyle/>
          <a:p>
            <a:r>
              <a:rPr lang="en-IN" b="1" dirty="0">
                <a:latin typeface="Times New Roman" pitchFamily="18" charset="0"/>
                <a:cs typeface="Times New Roman" pitchFamily="18" charset="0"/>
              </a:rPr>
              <a:t>ADVANTAGES</a:t>
            </a:r>
          </a:p>
        </p:txBody>
      </p:sp>
      <p:sp>
        <p:nvSpPr>
          <p:cNvPr id="3" name="Text Placeholder 2"/>
          <p:cNvSpPr>
            <a:spLocks noGrp="1"/>
          </p:cNvSpPr>
          <p:nvPr>
            <p:ph type="body" idx="1"/>
          </p:nvPr>
        </p:nvSpPr>
        <p:spPr>
          <a:xfrm>
            <a:off x="366455" y="1855778"/>
            <a:ext cx="11214624" cy="4186415"/>
          </a:xfrm>
        </p:spPr>
        <p:txBody>
          <a:bodyPr/>
          <a:lstStyle/>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Enhanced Security</a:t>
            </a:r>
            <a:r>
              <a:rPr lang="en-US" sz="1800" dirty="0">
                <a:latin typeface="Times New Roman" panose="02020603050405020304" pitchFamily="18" charset="0"/>
                <a:cs typeface="Times New Roman" panose="02020603050405020304" pitchFamily="18" charset="0"/>
              </a:rPr>
              <a:t> – Uses one-time PINs and encrypted QR codes, reducing risks of card skimming and PIN theft.</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Faster Transactions</a:t>
            </a:r>
            <a:r>
              <a:rPr lang="en-US" sz="1800" dirty="0">
                <a:latin typeface="Times New Roman" panose="02020603050405020304" pitchFamily="18" charset="0"/>
                <a:cs typeface="Times New Roman" panose="02020603050405020304" pitchFamily="18" charset="0"/>
              </a:rPr>
              <a:t> – Withdrawals are completed in under 30 seconds, minimizing wait times.</a:t>
            </a:r>
          </a:p>
          <a:p>
            <a:pPr algn="just">
              <a:lnSpc>
                <a:spcPct val="150000"/>
              </a:lnSpc>
              <a:buFont typeface="Wingdings" panose="05000000000000000000" pitchFamily="2" charset="2"/>
              <a:buChar char="Ø"/>
            </a:pPr>
            <a:r>
              <a:rPr lang="en-US" sz="1800" b="1" dirty="0" err="1">
                <a:latin typeface="Times New Roman" panose="02020603050405020304" pitchFamily="18" charset="0"/>
                <a:cs typeface="Times New Roman" panose="02020603050405020304" pitchFamily="18" charset="0"/>
              </a:rPr>
              <a:t>Cardless</a:t>
            </a:r>
            <a:r>
              <a:rPr lang="en-US" sz="1800" b="1" dirty="0">
                <a:latin typeface="Times New Roman" panose="02020603050405020304" pitchFamily="18" charset="0"/>
                <a:cs typeface="Times New Roman" panose="02020603050405020304" pitchFamily="18" charset="0"/>
              </a:rPr>
              <a:t> Convenience</a:t>
            </a:r>
            <a:r>
              <a:rPr lang="en-US" sz="1800" dirty="0">
                <a:latin typeface="Times New Roman" panose="02020603050405020304" pitchFamily="18" charset="0"/>
                <a:cs typeface="Times New Roman" panose="02020603050405020304" pitchFamily="18" charset="0"/>
              </a:rPr>
              <a:t> – No need to carry or insert a physical card, preventing issues from lost or damaged cards.</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Touch-Free Operation</a:t>
            </a:r>
            <a:r>
              <a:rPr lang="en-US" sz="1800" dirty="0">
                <a:latin typeface="Times New Roman" panose="02020603050405020304" pitchFamily="18" charset="0"/>
                <a:cs typeface="Times New Roman" panose="02020603050405020304" pitchFamily="18" charset="0"/>
              </a:rPr>
              <a:t> – Reduces contact with ATM surfaces, promoting hygiene and user safety</a:t>
            </a:r>
            <a:r>
              <a:rPr lang="en-US" sz="1800" dirty="0"/>
              <a:t>.</a:t>
            </a:r>
          </a:p>
        </p:txBody>
      </p:sp>
      <p:sp>
        <p:nvSpPr>
          <p:cNvPr id="5" name="Slide Number Placeholder 4"/>
          <p:cNvSpPr>
            <a:spLocks noGrp="1"/>
          </p:cNvSpPr>
          <p:nvPr>
            <p:ph type="sldNum" idx="12"/>
          </p:nvPr>
        </p:nvSpPr>
        <p:spPr/>
        <p:txBody>
          <a:bodyPr/>
          <a:lstStyle/>
          <a:p>
            <a:fld id="{00000000-1234-1234-1234-123412341234}" type="slidenum">
              <a:rPr lang="en" smtClean="0"/>
              <a:pPr/>
              <a:t>8</a:t>
            </a:fld>
            <a:endParaRPr lang="en"/>
          </a:p>
        </p:txBody>
      </p:sp>
    </p:spTree>
    <p:extLst>
      <p:ext uri="{BB962C8B-B14F-4D97-AF65-F5344CB8AC3E}">
        <p14:creationId xmlns:p14="http://schemas.microsoft.com/office/powerpoint/2010/main" val="2028100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734" y="523433"/>
            <a:ext cx="8064709" cy="1021600"/>
          </a:xfrm>
        </p:spPr>
        <p:txBody>
          <a:bodyPr/>
          <a:lstStyle/>
          <a:p>
            <a:r>
              <a:rPr lang="en-IN" b="1" dirty="0">
                <a:latin typeface="Times New Roman" panose="02020603050405020304" pitchFamily="18" charset="0"/>
                <a:cs typeface="Times New Roman" panose="02020603050405020304" pitchFamily="18" charset="0"/>
              </a:rPr>
              <a:t>SYSTEM ARCHITECTURE  </a:t>
            </a:r>
            <a:endParaRPr lang="en-IN" b="1" dirty="0"/>
          </a:p>
        </p:txBody>
      </p:sp>
      <p:sp>
        <p:nvSpPr>
          <p:cNvPr id="5" name="Slide Number Placeholder 4"/>
          <p:cNvSpPr>
            <a:spLocks noGrp="1"/>
          </p:cNvSpPr>
          <p:nvPr>
            <p:ph type="sldNum" idx="12"/>
          </p:nvPr>
        </p:nvSpPr>
        <p:spPr/>
        <p:txBody>
          <a:bodyPr/>
          <a:lstStyle/>
          <a:p>
            <a:fld id="{00000000-1234-1234-1234-123412341234}" type="slidenum">
              <a:rPr lang="en" smtClean="0"/>
              <a:pPr/>
              <a:t>9</a:t>
            </a:fld>
            <a:endParaRPr lang="en"/>
          </a:p>
        </p:txBody>
      </p:sp>
      <p:sp>
        <p:nvSpPr>
          <p:cNvPr id="3" name="Rectangle 19"/>
          <p:cNvSpPr>
            <a:spLocks noChangeArrowheads="1"/>
          </p:cNvSpPr>
          <p:nvPr/>
        </p:nvSpPr>
        <p:spPr bwMode="auto">
          <a:xfrm>
            <a:off x="1" y="58580"/>
            <a:ext cx="24628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p>
            <a:endParaRPr lang="en-IN" sz="2400" dirty="0"/>
          </a:p>
        </p:txBody>
      </p:sp>
      <p:pic>
        <p:nvPicPr>
          <p:cNvPr id="30" name="Picture 29"/>
          <p:cNvPicPr/>
          <p:nvPr/>
        </p:nvPicPr>
        <p:blipFill>
          <a:blip r:embed="rId2" cstate="print">
            <a:extLst>
              <a:ext uri="{28A0092B-C50C-407E-A947-70E740481C1C}">
                <a14:useLocalDpi xmlns:a14="http://schemas.microsoft.com/office/drawing/2010/main" val="0"/>
              </a:ext>
            </a:extLst>
          </a:blip>
          <a:stretch>
            <a:fillRect/>
          </a:stretch>
        </p:blipFill>
        <p:spPr>
          <a:xfrm>
            <a:off x="1468966" y="2079307"/>
            <a:ext cx="6540500" cy="3563727"/>
          </a:xfrm>
          <a:prstGeom prst="rect">
            <a:avLst/>
          </a:prstGeom>
        </p:spPr>
      </p:pic>
    </p:spTree>
    <p:extLst>
      <p:ext uri="{BB962C8B-B14F-4D97-AF65-F5344CB8AC3E}">
        <p14:creationId xmlns:p14="http://schemas.microsoft.com/office/powerpoint/2010/main" val="2160671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MODULE</a:t>
            </a:r>
            <a:endParaRPr lang="en-IN" b="1" dirty="0"/>
          </a:p>
        </p:txBody>
      </p:sp>
      <p:sp>
        <p:nvSpPr>
          <p:cNvPr id="3" name="Text Placeholder 2"/>
          <p:cNvSpPr>
            <a:spLocks noGrp="1"/>
          </p:cNvSpPr>
          <p:nvPr>
            <p:ph type="body" idx="1"/>
          </p:nvPr>
        </p:nvSpPr>
        <p:spPr>
          <a:xfrm>
            <a:off x="546054" y="1900748"/>
            <a:ext cx="10844323" cy="3743068"/>
          </a:xfrm>
        </p:spPr>
        <p:txBody>
          <a:bodyPr/>
          <a:lstStyle/>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Module 1: Mobile application module</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Module 2: QR Code Processing Module</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Module 3: Security And Authentication Module</a:t>
            </a:r>
          </a:p>
        </p:txBody>
      </p:sp>
      <p:sp>
        <p:nvSpPr>
          <p:cNvPr id="5" name="Slide Number Placeholder 4"/>
          <p:cNvSpPr>
            <a:spLocks noGrp="1"/>
          </p:cNvSpPr>
          <p:nvPr>
            <p:ph type="sldNum" idx="12"/>
          </p:nvPr>
        </p:nvSpPr>
        <p:spPr/>
        <p:txBody>
          <a:bodyPr/>
          <a:lstStyle/>
          <a:p>
            <a:fld id="{00000000-1234-1234-1234-123412341234}" type="slidenum">
              <a:rPr lang="en" smtClean="0"/>
              <a:pPr/>
              <a:t>10</a:t>
            </a:fld>
            <a:endParaRPr lang="en"/>
          </a:p>
        </p:txBody>
      </p:sp>
    </p:spTree>
    <p:extLst>
      <p:ext uri="{BB962C8B-B14F-4D97-AF65-F5344CB8AC3E}">
        <p14:creationId xmlns:p14="http://schemas.microsoft.com/office/powerpoint/2010/main" val="3828815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610" y="523433"/>
            <a:ext cx="7792290"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b="1" dirty="0"/>
          </a:p>
        </p:txBody>
      </p:sp>
      <p:sp>
        <p:nvSpPr>
          <p:cNvPr id="3" name="Text Placeholder 2"/>
          <p:cNvSpPr>
            <a:spLocks noGrp="1"/>
          </p:cNvSpPr>
          <p:nvPr>
            <p:ph type="body" idx="1"/>
          </p:nvPr>
        </p:nvSpPr>
        <p:spPr>
          <a:xfrm>
            <a:off x="156754" y="1825797"/>
            <a:ext cx="10992179" cy="4508770"/>
          </a:xfrm>
        </p:spPr>
        <p:txBody>
          <a:bodyPr/>
          <a:lstStyle/>
          <a:p>
            <a:pPr marL="135464" indent="0">
              <a:lnSpc>
                <a:spcPct val="150000"/>
              </a:lnSpc>
              <a:buNone/>
            </a:pPr>
            <a:r>
              <a:rPr lang="en-US" sz="1800" b="1" dirty="0">
                <a:latin typeface="Times New Roman" panose="02020603050405020304" pitchFamily="18" charset="0"/>
                <a:cs typeface="Times New Roman" panose="02020603050405020304" pitchFamily="18" charset="0"/>
              </a:rPr>
              <a:t>Module 1: Mobile application module</a:t>
            </a:r>
          </a:p>
          <a:p>
            <a:pPr algn="just">
              <a:lnSpc>
                <a:spcPct val="150000"/>
              </a:lnSpc>
              <a:buFont typeface="Wingdings" panose="05000000000000000000" pitchFamily="2" charset="2"/>
              <a:buChar char="Ø"/>
            </a:pPr>
            <a:r>
              <a:rPr lang="en-US" sz="1800" b="1" dirty="0" err="1">
                <a:latin typeface="Times New Roman" panose="02020603050405020304" pitchFamily="18" charset="0"/>
                <a:cs typeface="Times New Roman" panose="02020603050405020304" pitchFamily="18" charset="0"/>
              </a:rPr>
              <a:t>Cardless</a:t>
            </a:r>
            <a:r>
              <a:rPr lang="en-US" sz="1800" b="1" dirty="0">
                <a:latin typeface="Times New Roman" panose="02020603050405020304" pitchFamily="18" charset="0"/>
                <a:cs typeface="Times New Roman" panose="02020603050405020304" pitchFamily="18" charset="0"/>
              </a:rPr>
              <a:t> and Quick Transactions</a:t>
            </a:r>
            <a:r>
              <a:rPr lang="en-US" sz="1800" dirty="0">
                <a:latin typeface="Times New Roman" panose="02020603050405020304" pitchFamily="18" charset="0"/>
                <a:cs typeface="Times New Roman" panose="02020603050405020304" pitchFamily="18" charset="0"/>
              </a:rPr>
              <a:t>: Users can initiate ATM withdrawals from their smartphones, removing the need for physical bank cards and reducing time at the ATM.</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User-Friendly Design</a:t>
            </a:r>
            <a:r>
              <a:rPr lang="en-US" sz="1800" dirty="0">
                <a:latin typeface="Times New Roman" panose="02020603050405020304" pitchFamily="18" charset="0"/>
                <a:cs typeface="Times New Roman" panose="02020603050405020304" pitchFamily="18" charset="0"/>
              </a:rPr>
              <a:t>: The app is designed to be simple and accessible, making it easy for users of all tech skill levels to navigate.</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Pre-Configured Withdrawals</a:t>
            </a:r>
            <a:r>
              <a:rPr lang="en-US" sz="1800" dirty="0">
                <a:latin typeface="Times New Roman" panose="02020603050405020304" pitchFamily="18" charset="0"/>
                <a:cs typeface="Times New Roman" panose="02020603050405020304" pitchFamily="18" charset="0"/>
              </a:rPr>
              <a:t>: Users can log in, choose the amount, and prepare the transaction before reaching the ATM, enabling withdrawals in under 30 seconds.</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Seamless Integration and Modern Banking</a:t>
            </a:r>
            <a:r>
              <a:rPr lang="en-US" sz="1800" dirty="0">
                <a:latin typeface="Times New Roman" panose="02020603050405020304" pitchFamily="18" charset="0"/>
                <a:cs typeface="Times New Roman" panose="02020603050405020304" pitchFamily="18" charset="0"/>
              </a:rPr>
              <a:t>: The app integrates with other system components like QR code generation and supports the shift toward mobile and digital banking.</a:t>
            </a:r>
          </a:p>
          <a:p>
            <a:pPr marL="135464"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8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11</a:t>
            </a:fld>
            <a:endParaRPr lang="en"/>
          </a:p>
        </p:txBody>
      </p:sp>
    </p:spTree>
    <p:extLst>
      <p:ext uri="{BB962C8B-B14F-4D97-AF65-F5344CB8AC3E}">
        <p14:creationId xmlns:p14="http://schemas.microsoft.com/office/powerpoint/2010/main" val="2182066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9919F-ABC5-4B89-BFFC-3A7D3A055F76}"/>
              </a:ext>
            </a:extLst>
          </p:cNvPr>
          <p:cNvSpPr>
            <a:spLocks noGrp="1"/>
          </p:cNvSpPr>
          <p:nvPr>
            <p:ph type="title"/>
          </p:nvPr>
        </p:nvSpPr>
        <p:spPr>
          <a:xfrm>
            <a:off x="254833" y="523433"/>
            <a:ext cx="7842067"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dirty="0"/>
          </a:p>
        </p:txBody>
      </p:sp>
      <p:sp>
        <p:nvSpPr>
          <p:cNvPr id="3" name="Text Placeholder 2">
            <a:extLst>
              <a:ext uri="{FF2B5EF4-FFF2-40B4-BE49-F238E27FC236}">
                <a16:creationId xmlns:a16="http://schemas.microsoft.com/office/drawing/2014/main" id="{6010677C-02D4-49FC-928B-33D084DD9DB2}"/>
              </a:ext>
            </a:extLst>
          </p:cNvPr>
          <p:cNvSpPr>
            <a:spLocks noGrp="1"/>
          </p:cNvSpPr>
          <p:nvPr>
            <p:ph type="body" idx="1"/>
          </p:nvPr>
        </p:nvSpPr>
        <p:spPr>
          <a:xfrm>
            <a:off x="254833" y="1813810"/>
            <a:ext cx="10411097" cy="4637314"/>
          </a:xfrm>
        </p:spPr>
        <p:txBody>
          <a:bodyPr/>
          <a:lstStyle/>
          <a:p>
            <a:pPr marL="135464" indent="0">
              <a:lnSpc>
                <a:spcPct val="150000"/>
              </a:lnSpc>
              <a:buNone/>
            </a:pPr>
            <a:r>
              <a:rPr lang="en-US" sz="1800" b="1" dirty="0">
                <a:latin typeface="Times New Roman" panose="02020603050405020304" pitchFamily="18" charset="0"/>
                <a:cs typeface="Times New Roman" panose="02020603050405020304" pitchFamily="18" charset="0"/>
              </a:rPr>
              <a:t>Module 2: QR Code Processing Module</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Fast and Contactless Transactions</a:t>
            </a:r>
            <a:r>
              <a:rPr lang="en-US" sz="1800" dirty="0">
                <a:latin typeface="Times New Roman" panose="02020603050405020304" pitchFamily="18" charset="0"/>
                <a:cs typeface="Times New Roman" panose="02020603050405020304" pitchFamily="18" charset="0"/>
              </a:rPr>
              <a:t>: The module enables withdrawals in under 30 seconds by scanning QR codes, eliminating the need for card insertion and reducing physical contact.</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Secure QR Code Generation</a:t>
            </a:r>
            <a:r>
              <a:rPr lang="en-US" sz="1800" dirty="0">
                <a:latin typeface="Times New Roman" panose="02020603050405020304" pitchFamily="18" charset="0"/>
                <a:cs typeface="Times New Roman" panose="02020603050405020304" pitchFamily="18" charset="0"/>
              </a:rPr>
              <a:t>: Uses Python with </a:t>
            </a:r>
            <a:r>
              <a:rPr lang="en-US" sz="1800" dirty="0" err="1">
                <a:latin typeface="Times New Roman" panose="02020603050405020304" pitchFamily="18" charset="0"/>
                <a:cs typeface="Times New Roman" panose="02020603050405020304" pitchFamily="18" charset="0"/>
              </a:rPr>
              <a:t>OpenCV</a:t>
            </a:r>
            <a:r>
              <a:rPr lang="en-US" sz="1800" dirty="0">
                <a:latin typeface="Times New Roman" panose="02020603050405020304" pitchFamily="18" charset="0"/>
                <a:cs typeface="Times New Roman" panose="02020603050405020304" pitchFamily="18" charset="0"/>
              </a:rPr>
              <a:t> and Pillow to create QR codes that securely encode user and transaction details.</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Improved Security</a:t>
            </a:r>
            <a:r>
              <a:rPr lang="en-US" sz="1800" dirty="0">
                <a:latin typeface="Times New Roman" panose="02020603050405020304" pitchFamily="18" charset="0"/>
                <a:cs typeface="Times New Roman" panose="02020603050405020304" pitchFamily="18" charset="0"/>
              </a:rPr>
              <a:t>: Prevents card skimming and related fraud by removing the need for physical cards during ATM use.</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Accurate and Efficient Processing</a:t>
            </a:r>
            <a:r>
              <a:rPr lang="en-US" sz="1800" dirty="0">
                <a:latin typeface="Times New Roman" panose="02020603050405020304" pitchFamily="18" charset="0"/>
                <a:cs typeface="Times New Roman" panose="02020603050405020304" pitchFamily="18" charset="0"/>
              </a:rPr>
              <a:t>: Quickly encodes and decodes transaction data to ensure smooth, reliable performance, supporting a modern and safe ATM experience.</a:t>
            </a:r>
          </a:p>
          <a:p>
            <a:pPr marL="135464" indent="0">
              <a:lnSpc>
                <a:spcPct val="150000"/>
              </a:lnSpc>
              <a:buNone/>
            </a:pP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0628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518" y="523433"/>
            <a:ext cx="7620382"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dirty="0"/>
          </a:p>
        </p:txBody>
      </p:sp>
      <p:sp>
        <p:nvSpPr>
          <p:cNvPr id="3" name="Text Placeholder 2"/>
          <p:cNvSpPr>
            <a:spLocks noGrp="1"/>
          </p:cNvSpPr>
          <p:nvPr>
            <p:ph type="body" idx="1"/>
          </p:nvPr>
        </p:nvSpPr>
        <p:spPr>
          <a:xfrm>
            <a:off x="373488" y="1780195"/>
            <a:ext cx="9350062" cy="4607726"/>
          </a:xfrm>
        </p:spPr>
        <p:txBody>
          <a:bodyPr/>
          <a:lstStyle/>
          <a:p>
            <a:pPr marL="135464" indent="0">
              <a:lnSpc>
                <a:spcPct val="150000"/>
              </a:lnSpc>
              <a:buNone/>
            </a:pPr>
            <a:r>
              <a:rPr lang="en-US" sz="1800" b="1" dirty="0">
                <a:latin typeface="Times New Roman" panose="02020603050405020304" pitchFamily="18" charset="0"/>
                <a:cs typeface="Times New Roman" panose="02020603050405020304" pitchFamily="18" charset="0"/>
              </a:rPr>
              <a:t>Module 3: Security And Authentication Module</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Dual-Layered Security</a:t>
            </a:r>
            <a:r>
              <a:rPr lang="en-US" sz="1800" dirty="0">
                <a:latin typeface="Times New Roman" panose="02020603050405020304" pitchFamily="18" charset="0"/>
                <a:cs typeface="Times New Roman" panose="02020603050405020304" pitchFamily="18" charset="0"/>
              </a:rPr>
              <a:t>: Combines a one-time, temporary PIN and encrypted QR codes to protect against common threats like PIN theft and card skimming.</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Prevents Unauthorized Access</a:t>
            </a:r>
            <a:r>
              <a:rPr lang="en-US" sz="1800" dirty="0">
                <a:latin typeface="Times New Roman" panose="02020603050405020304" pitchFamily="18" charset="0"/>
                <a:cs typeface="Times New Roman" panose="02020603050405020304" pitchFamily="18" charset="0"/>
              </a:rPr>
              <a:t>: Temporary PINs are valid for one transaction only, making it impossible to reuse them even if intercepted.</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Enhances User Trust</a:t>
            </a:r>
            <a:r>
              <a:rPr lang="en-US" sz="1800" dirty="0">
                <a:latin typeface="Times New Roman" panose="02020603050405020304" pitchFamily="18" charset="0"/>
                <a:cs typeface="Times New Roman" panose="02020603050405020304" pitchFamily="18" charset="0"/>
              </a:rPr>
              <a:t>: Real-time authentication confirms the user's identity and transaction details, boosting confidence in digital banking.</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Fights Modern ATM Fraud</a:t>
            </a:r>
            <a:r>
              <a:rPr lang="en-US" sz="1800" dirty="0">
                <a:latin typeface="Times New Roman" panose="02020603050405020304" pitchFamily="18" charset="0"/>
                <a:cs typeface="Times New Roman" panose="02020603050405020304" pitchFamily="18" charset="0"/>
              </a:rPr>
              <a:t>: The system removes the need for physical cards, reducing exposure to skimming devices and aligning with the latest security standards.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0959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921" y="523433"/>
            <a:ext cx="8319541" cy="1021600"/>
          </a:xfrm>
        </p:spPr>
        <p:txBody>
          <a:bodyPr/>
          <a:lstStyle/>
          <a:p>
            <a:r>
              <a:rPr lang="en-US" b="1" dirty="0">
                <a:latin typeface="Times New Roman" pitchFamily="18" charset="0"/>
                <a:cs typeface="Times New Roman" pitchFamily="18" charset="0"/>
              </a:rPr>
              <a:t>SOFTWARE REQUIREMENTS</a:t>
            </a:r>
            <a:endParaRPr lang="en-IN" b="1" dirty="0"/>
          </a:p>
        </p:txBody>
      </p:sp>
      <p:sp>
        <p:nvSpPr>
          <p:cNvPr id="3" name="Text Placeholder 2"/>
          <p:cNvSpPr>
            <a:spLocks noGrp="1"/>
          </p:cNvSpPr>
          <p:nvPr>
            <p:ph type="body" idx="1"/>
          </p:nvPr>
        </p:nvSpPr>
        <p:spPr>
          <a:xfrm>
            <a:off x="506151" y="1960499"/>
            <a:ext cx="10864475" cy="3712840"/>
          </a:xfrm>
        </p:spPr>
        <p:txBody>
          <a:bodyPr/>
          <a:lstStyle/>
          <a:p>
            <a:pPr marL="285750" indent="-285750" algn="just" defTabSz="1147205">
              <a:lnSpc>
                <a:spcPct val="150000"/>
              </a:lnSpc>
              <a:buSzPct val="120000"/>
              <a:buFont typeface="Wingdings" panose="05000000000000000000" pitchFamily="2" charset="2"/>
              <a:buChar char="Ø"/>
            </a:pPr>
            <a:r>
              <a:rPr lang="en-US" sz="1800" dirty="0">
                <a:solidFill>
                  <a:srgbClr val="000000"/>
                </a:solidFill>
                <a:latin typeface="Times New Roman" pitchFamily="18" charset="0"/>
                <a:cs typeface="Times New Roman" pitchFamily="18" charset="0"/>
              </a:rPr>
              <a:t>Operating System     :   Windows 10 (64 bit) or 11 (64 bit)</a:t>
            </a:r>
          </a:p>
          <a:p>
            <a:pPr marL="285750" indent="-285750" algn="just" defTabSz="1147205">
              <a:lnSpc>
                <a:spcPct val="150000"/>
              </a:lnSpc>
              <a:buSzPct val="120000"/>
              <a:buFont typeface="Wingdings" panose="05000000000000000000" pitchFamily="2" charset="2"/>
              <a:buChar char="Ø"/>
            </a:pPr>
            <a:r>
              <a:rPr lang="en-US" sz="1800" dirty="0">
                <a:solidFill>
                  <a:srgbClr val="000000"/>
                </a:solidFill>
                <a:latin typeface="Times New Roman" pitchFamily="18" charset="0"/>
                <a:cs typeface="Times New Roman" pitchFamily="18" charset="0"/>
              </a:rPr>
              <a:t>Software                  :   Python (3.10 or higher) IDE (like IDLE or VS Code)</a:t>
            </a:r>
          </a:p>
          <a:p>
            <a:pPr marL="285750" indent="-285750" algn="just">
              <a:lnSpc>
                <a:spcPct val="150000"/>
              </a:lnSpc>
              <a:buSzPct val="120000"/>
              <a:buFont typeface="Wingdings" panose="05000000000000000000" pitchFamily="2" charset="2"/>
              <a:buChar char="Ø"/>
              <a:tabLst>
                <a:tab pos="5736023" algn="l"/>
              </a:tabLst>
            </a:pPr>
            <a:r>
              <a:rPr lang="en-US" sz="1800" dirty="0">
                <a:solidFill>
                  <a:srgbClr val="000000"/>
                </a:solidFill>
                <a:latin typeface="Times New Roman" pitchFamily="18" charset="0"/>
                <a:cs typeface="Times New Roman" pitchFamily="18" charset="0"/>
              </a:rPr>
              <a:t>Tools                        :  </a:t>
            </a:r>
            <a:r>
              <a:rPr lang="en-US" sz="1800" dirty="0">
                <a:latin typeface="Times New Roman" panose="02020603050405020304" pitchFamily="18" charset="0"/>
                <a:cs typeface="Times New Roman" panose="02020603050405020304" pitchFamily="18" charset="0"/>
              </a:rPr>
              <a:t>Flask, </a:t>
            </a:r>
            <a:r>
              <a:rPr lang="en-US" sz="1800" dirty="0" err="1">
                <a:latin typeface="Times New Roman" panose="02020603050405020304" pitchFamily="18" charset="0"/>
                <a:cs typeface="Times New Roman" panose="02020603050405020304" pitchFamily="18" charset="0"/>
              </a:rPr>
              <a:t>OpenCV</a:t>
            </a:r>
            <a:r>
              <a:rPr lang="en-US" sz="1800" dirty="0">
                <a:latin typeface="Times New Roman" panose="02020603050405020304" pitchFamily="18" charset="0"/>
                <a:cs typeface="Times New Roman" panose="02020603050405020304" pitchFamily="18" charset="0"/>
              </a:rPr>
              <a:t>, Pillow (PIL) , </a:t>
            </a:r>
            <a:r>
              <a:rPr lang="en-US" sz="1800" dirty="0" err="1">
                <a:latin typeface="Times New Roman" panose="02020603050405020304" pitchFamily="18" charset="0"/>
                <a:cs typeface="Times New Roman" panose="02020603050405020304" pitchFamily="18" charset="0"/>
              </a:rPr>
              <a:t>qrcode</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PyQRCode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pyzbar</a:t>
            </a:r>
            <a:r>
              <a:rPr lang="en-US" sz="1800" dirty="0">
                <a:latin typeface="Times New Roman" panose="02020603050405020304" pitchFamily="18" charset="0"/>
                <a:cs typeface="Times New Roman" panose="02020603050405020304" pitchFamily="18" charset="0"/>
              </a:rPr>
              <a:t>, HTML, CSS, and JavaScript</a:t>
            </a:r>
            <a:endParaRPr lang="en-IN" sz="1800" dirty="0">
              <a:solidFill>
                <a:srgbClr val="000000"/>
              </a:solidFill>
              <a:latin typeface="Times New Roman" panose="02020603050405020304" pitchFamily="18" charset="0"/>
              <a:cs typeface="Times New Roman" panose="02020603050405020304" pitchFamily="18" charset="0"/>
            </a:endParaRPr>
          </a:p>
          <a:p>
            <a:pPr>
              <a:lnSpc>
                <a:spcPct val="150000"/>
              </a:lnSpc>
              <a:buNone/>
            </a:pPr>
            <a:endParaRPr lang="en-US" sz="1800"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14</a:t>
            </a:fld>
            <a:endParaRPr lang="en"/>
          </a:p>
        </p:txBody>
      </p:sp>
    </p:spTree>
    <p:extLst>
      <p:ext uri="{BB962C8B-B14F-4D97-AF65-F5344CB8AC3E}">
        <p14:creationId xmlns:p14="http://schemas.microsoft.com/office/powerpoint/2010/main" val="3407818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523433"/>
            <a:ext cx="8739266" cy="1021600"/>
          </a:xfrm>
        </p:spPr>
        <p:txBody>
          <a:bodyPr/>
          <a:lstStyle/>
          <a:p>
            <a:pPr>
              <a:lnSpc>
                <a:spcPct val="150000"/>
              </a:lnSpc>
            </a:pPr>
            <a:r>
              <a:rPr lang="en-US" b="1" dirty="0">
                <a:latin typeface="Times New Roman" pitchFamily="18" charset="0"/>
                <a:cs typeface="Times New Roman" pitchFamily="18" charset="0"/>
              </a:rPr>
              <a:t>HARDWARE REQUIREMENTS</a:t>
            </a:r>
            <a:endParaRPr lang="en-IN" b="1" dirty="0">
              <a:latin typeface="Times New Roman" pitchFamily="18" charset="0"/>
              <a:cs typeface="Times New Roman" pitchFamily="18" charset="0"/>
            </a:endParaRPr>
          </a:p>
        </p:txBody>
      </p:sp>
      <p:sp>
        <p:nvSpPr>
          <p:cNvPr id="3" name="Text Placeholder 2"/>
          <p:cNvSpPr>
            <a:spLocks noGrp="1"/>
          </p:cNvSpPr>
          <p:nvPr>
            <p:ph type="body" idx="1"/>
          </p:nvPr>
        </p:nvSpPr>
        <p:spPr>
          <a:xfrm>
            <a:off x="467514" y="1936267"/>
            <a:ext cx="10562195" cy="3708148"/>
          </a:xfrm>
        </p:spPr>
        <p:txBody>
          <a:bodyPr/>
          <a:lstStyle/>
          <a:p>
            <a:pPr marL="342900" lvl="0" indent="-342900">
              <a:lnSpc>
                <a:spcPct val="150000"/>
              </a:lnSpc>
              <a:buSzPct val="120000"/>
              <a:buFont typeface="Wingdings" panose="05000000000000000000" pitchFamily="2" charset="2"/>
              <a:buChar char="Ø"/>
            </a:pPr>
            <a:r>
              <a:rPr lang="en-US" sz="1800" dirty="0">
                <a:solidFill>
                  <a:srgbClr val="000000"/>
                </a:solidFill>
                <a:latin typeface="Times New Roman" pitchFamily="18" charset="0"/>
                <a:cs typeface="Times New Roman" pitchFamily="18" charset="0"/>
              </a:rPr>
              <a:t>Hard Disk		:	500GB and above</a:t>
            </a:r>
          </a:p>
          <a:p>
            <a:pPr marL="342900" lvl="0" indent="-342900">
              <a:lnSpc>
                <a:spcPct val="150000"/>
              </a:lnSpc>
              <a:buSzPct val="120000"/>
              <a:buFont typeface="Wingdings" panose="05000000000000000000" pitchFamily="2" charset="2"/>
              <a:buChar char="Ø"/>
            </a:pPr>
            <a:r>
              <a:rPr lang="en-US" sz="1800" dirty="0">
                <a:solidFill>
                  <a:srgbClr val="000000"/>
                </a:solidFill>
                <a:latin typeface="Times New Roman" pitchFamily="18" charset="0"/>
                <a:cs typeface="Times New Roman" pitchFamily="18" charset="0"/>
              </a:rPr>
              <a:t>RAM			: 	8GB and above</a:t>
            </a:r>
          </a:p>
          <a:p>
            <a:pPr marL="342900" lvl="0" indent="-342900">
              <a:lnSpc>
                <a:spcPct val="150000"/>
              </a:lnSpc>
              <a:buSzPct val="120000"/>
              <a:buFont typeface="Wingdings" panose="05000000000000000000" pitchFamily="2" charset="2"/>
              <a:buChar char="Ø"/>
            </a:pPr>
            <a:r>
              <a:rPr lang="en-US" sz="1800" dirty="0">
                <a:solidFill>
                  <a:srgbClr val="000000"/>
                </a:solidFill>
                <a:latin typeface="Times New Roman" pitchFamily="18" charset="0"/>
                <a:cs typeface="Times New Roman" pitchFamily="18" charset="0"/>
              </a:rPr>
              <a:t>Processor		:	</a:t>
            </a:r>
            <a:r>
              <a:rPr lang="en-US" sz="1800" dirty="0">
                <a:latin typeface="Times New Roman" panose="02020603050405020304" pitchFamily="18" charset="0"/>
                <a:cs typeface="Times New Roman" panose="02020603050405020304" pitchFamily="18" charset="0"/>
              </a:rPr>
              <a:t> Intel Core i5</a:t>
            </a:r>
            <a:r>
              <a:rPr lang="en-US" sz="1800" dirty="0">
                <a:solidFill>
                  <a:srgbClr val="000000"/>
                </a:solidFill>
                <a:latin typeface="Times New Roman" pitchFamily="18" charset="0"/>
                <a:cs typeface="Times New Roman" pitchFamily="18" charset="0"/>
              </a:rPr>
              <a:t> and above</a:t>
            </a:r>
          </a:p>
        </p:txBody>
      </p:sp>
      <p:sp>
        <p:nvSpPr>
          <p:cNvPr id="5" name="Slide Number Placeholder 4"/>
          <p:cNvSpPr>
            <a:spLocks noGrp="1"/>
          </p:cNvSpPr>
          <p:nvPr>
            <p:ph type="sldNum" idx="12"/>
          </p:nvPr>
        </p:nvSpPr>
        <p:spPr/>
        <p:txBody>
          <a:bodyPr/>
          <a:lstStyle/>
          <a:p>
            <a:pPr>
              <a:lnSpc>
                <a:spcPct val="150000"/>
              </a:lnSpc>
            </a:pPr>
            <a:fld id="{00000000-1234-1234-1234-123412341234}" type="slidenum">
              <a:rPr lang="en" sz="2133">
                <a:solidFill>
                  <a:srgbClr val="000000"/>
                </a:solidFill>
                <a:latin typeface="Times New Roman" pitchFamily="18" charset="0"/>
                <a:cs typeface="Times New Roman" pitchFamily="18" charset="0"/>
              </a:rPr>
              <a:pPr>
                <a:lnSpc>
                  <a:spcPct val="150000"/>
                </a:lnSpc>
              </a:pPr>
              <a:t>15</a:t>
            </a:fld>
            <a:endParaRPr lang="en" sz="2133">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014894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523433"/>
            <a:ext cx="8739266" cy="1021600"/>
          </a:xfrm>
        </p:spPr>
        <p:txBody>
          <a:bodyPr/>
          <a:lstStyle/>
          <a:p>
            <a:pPr>
              <a:lnSpc>
                <a:spcPct val="150000"/>
              </a:lnSpc>
            </a:pPr>
            <a:r>
              <a:rPr lang="en-US" b="1" dirty="0">
                <a:latin typeface="Times New Roman" pitchFamily="18" charset="0"/>
                <a:cs typeface="Times New Roman" pitchFamily="18" charset="0"/>
              </a:rPr>
              <a:t>USE CASE DIAGRAM</a:t>
            </a:r>
            <a:endParaRPr lang="en-IN" b="1" dirty="0">
              <a:latin typeface="Times New Roman" pitchFamily="18" charset="0"/>
              <a:cs typeface="Times New Roman" pitchFamily="18" charset="0"/>
            </a:endParaRPr>
          </a:p>
        </p:txBody>
      </p:sp>
      <p:sp>
        <p:nvSpPr>
          <p:cNvPr id="3" name="Text Placeholder 2"/>
          <p:cNvSpPr>
            <a:spLocks noGrp="1"/>
          </p:cNvSpPr>
          <p:nvPr>
            <p:ph type="body" idx="1"/>
          </p:nvPr>
        </p:nvSpPr>
        <p:spPr>
          <a:xfrm>
            <a:off x="467514" y="1936267"/>
            <a:ext cx="10562195" cy="4398300"/>
          </a:xfrm>
        </p:spPr>
        <p:txBody>
          <a:bodyPr/>
          <a:lstStyle/>
          <a:p>
            <a:pPr marL="0" lvl="0" indent="0">
              <a:lnSpc>
                <a:spcPct val="150000"/>
              </a:lnSpc>
              <a:buSzPct val="120000"/>
              <a:buNone/>
            </a:pPr>
            <a:endParaRPr lang="en-US" sz="1800" dirty="0">
              <a:solidFill>
                <a:srgbClr val="000000"/>
              </a:solidFill>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a:lnSpc>
                <a:spcPct val="150000"/>
              </a:lnSpc>
            </a:pPr>
            <a:fld id="{00000000-1234-1234-1234-123412341234}" type="slidenum">
              <a:rPr lang="en" sz="2133">
                <a:solidFill>
                  <a:srgbClr val="000000"/>
                </a:solidFill>
                <a:latin typeface="Times New Roman" pitchFamily="18" charset="0"/>
                <a:cs typeface="Times New Roman" pitchFamily="18" charset="0"/>
              </a:rPr>
              <a:pPr>
                <a:lnSpc>
                  <a:spcPct val="150000"/>
                </a:lnSpc>
              </a:pPr>
              <a:t>16</a:t>
            </a:fld>
            <a:endParaRPr lang="en" sz="2133">
              <a:solidFill>
                <a:srgbClr val="000000"/>
              </a:solidFill>
              <a:latin typeface="Times New Roman" pitchFamily="18" charset="0"/>
              <a:cs typeface="Times New Roman" pitchFamily="18" charset="0"/>
            </a:endParaRPr>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2540317" y="2615671"/>
            <a:ext cx="5968365" cy="2625725"/>
          </a:xfrm>
          <a:prstGeom prst="rect">
            <a:avLst/>
          </a:prstGeom>
        </p:spPr>
      </p:pic>
      <p:cxnSp>
        <p:nvCxnSpPr>
          <p:cNvPr id="7" name="Straight Connector 6"/>
          <p:cNvCxnSpPr/>
          <p:nvPr/>
        </p:nvCxnSpPr>
        <p:spPr>
          <a:xfrm flipV="1">
            <a:off x="4453467" y="4157133"/>
            <a:ext cx="241300" cy="8467"/>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5524499" y="4157133"/>
            <a:ext cx="39793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74856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523433"/>
            <a:ext cx="8739266" cy="1021600"/>
          </a:xfrm>
        </p:spPr>
        <p:txBody>
          <a:bodyPr/>
          <a:lstStyle/>
          <a:p>
            <a:pPr>
              <a:lnSpc>
                <a:spcPct val="150000"/>
              </a:lnSpc>
            </a:pPr>
            <a:r>
              <a:rPr lang="en-US" b="1" dirty="0">
                <a:latin typeface="Times New Roman" pitchFamily="18" charset="0"/>
                <a:cs typeface="Times New Roman" pitchFamily="18" charset="0"/>
              </a:rPr>
              <a:t>ACTIVITY DIAGRAM</a:t>
            </a:r>
            <a:endParaRPr lang="en-IN" b="1" dirty="0">
              <a:latin typeface="Times New Roman" pitchFamily="18" charset="0"/>
              <a:cs typeface="Times New Roman" pitchFamily="18" charset="0"/>
            </a:endParaRPr>
          </a:p>
        </p:txBody>
      </p:sp>
      <p:sp>
        <p:nvSpPr>
          <p:cNvPr id="3" name="Text Placeholder 2"/>
          <p:cNvSpPr>
            <a:spLocks noGrp="1"/>
          </p:cNvSpPr>
          <p:nvPr>
            <p:ph type="body" idx="1"/>
          </p:nvPr>
        </p:nvSpPr>
        <p:spPr>
          <a:xfrm>
            <a:off x="467514" y="1936266"/>
            <a:ext cx="10562195" cy="4666533"/>
          </a:xfrm>
        </p:spPr>
        <p:txBody>
          <a:bodyPr/>
          <a:lstStyle/>
          <a:p>
            <a:pPr marL="0" lvl="0" indent="0">
              <a:lnSpc>
                <a:spcPct val="150000"/>
              </a:lnSpc>
              <a:buSzPct val="120000"/>
              <a:buNone/>
            </a:pPr>
            <a:endParaRPr lang="en-US" sz="1800" dirty="0">
              <a:solidFill>
                <a:srgbClr val="000000"/>
              </a:solidFill>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a:lnSpc>
                <a:spcPct val="150000"/>
              </a:lnSpc>
            </a:pPr>
            <a:fld id="{00000000-1234-1234-1234-123412341234}" type="slidenum">
              <a:rPr lang="en" sz="2133">
                <a:solidFill>
                  <a:srgbClr val="000000"/>
                </a:solidFill>
                <a:latin typeface="Times New Roman" pitchFamily="18" charset="0"/>
                <a:cs typeface="Times New Roman" pitchFamily="18" charset="0"/>
              </a:rPr>
              <a:pPr>
                <a:lnSpc>
                  <a:spcPct val="150000"/>
                </a:lnSpc>
              </a:pPr>
              <a:t>17</a:t>
            </a:fld>
            <a:endParaRPr lang="en" sz="2133">
              <a:solidFill>
                <a:srgbClr val="000000"/>
              </a:solidFill>
              <a:latin typeface="Times New Roman" pitchFamily="18" charset="0"/>
              <a:cs typeface="Times New Roman" pitchFamily="18"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3631036" y="1972732"/>
            <a:ext cx="2773998" cy="4682068"/>
          </a:xfrm>
          <a:prstGeom prst="rect">
            <a:avLst/>
          </a:prstGeom>
        </p:spPr>
      </p:pic>
    </p:spTree>
    <p:extLst>
      <p:ext uri="{BB962C8B-B14F-4D97-AF65-F5344CB8AC3E}">
        <p14:creationId xmlns:p14="http://schemas.microsoft.com/office/powerpoint/2010/main" val="303227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523433"/>
            <a:ext cx="8739266" cy="1021600"/>
          </a:xfrm>
        </p:spPr>
        <p:txBody>
          <a:bodyPr/>
          <a:lstStyle/>
          <a:p>
            <a:pPr>
              <a:lnSpc>
                <a:spcPct val="150000"/>
              </a:lnSpc>
            </a:pPr>
            <a:r>
              <a:rPr lang="en-US" b="1" dirty="0">
                <a:latin typeface="Times New Roman" pitchFamily="18" charset="0"/>
                <a:cs typeface="Times New Roman" pitchFamily="18" charset="0"/>
              </a:rPr>
              <a:t>SEQUENCE DIAGRAM</a:t>
            </a:r>
            <a:endParaRPr lang="en-IN" b="1" dirty="0">
              <a:latin typeface="Times New Roman" pitchFamily="18" charset="0"/>
              <a:cs typeface="Times New Roman" pitchFamily="18" charset="0"/>
            </a:endParaRPr>
          </a:p>
        </p:txBody>
      </p:sp>
      <p:sp>
        <p:nvSpPr>
          <p:cNvPr id="3" name="Text Placeholder 2"/>
          <p:cNvSpPr>
            <a:spLocks noGrp="1"/>
          </p:cNvSpPr>
          <p:nvPr>
            <p:ph type="body" idx="1"/>
          </p:nvPr>
        </p:nvSpPr>
        <p:spPr>
          <a:xfrm>
            <a:off x="467514" y="1936266"/>
            <a:ext cx="10562195" cy="4666533"/>
          </a:xfrm>
        </p:spPr>
        <p:txBody>
          <a:bodyPr/>
          <a:lstStyle/>
          <a:p>
            <a:pPr marL="0" lvl="0" indent="0">
              <a:lnSpc>
                <a:spcPct val="150000"/>
              </a:lnSpc>
              <a:buSzPct val="120000"/>
              <a:buNone/>
            </a:pPr>
            <a:endParaRPr lang="en-US" sz="1800" dirty="0">
              <a:solidFill>
                <a:srgbClr val="000000"/>
              </a:solidFill>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a:lnSpc>
                <a:spcPct val="150000"/>
              </a:lnSpc>
            </a:pPr>
            <a:fld id="{00000000-1234-1234-1234-123412341234}" type="slidenum">
              <a:rPr lang="en" sz="2133">
                <a:solidFill>
                  <a:srgbClr val="000000"/>
                </a:solidFill>
                <a:latin typeface="Times New Roman" pitchFamily="18" charset="0"/>
                <a:cs typeface="Times New Roman" pitchFamily="18" charset="0"/>
              </a:rPr>
              <a:pPr>
                <a:lnSpc>
                  <a:spcPct val="150000"/>
                </a:lnSpc>
              </a:pPr>
              <a:t>18</a:t>
            </a:fld>
            <a:endParaRPr lang="en" sz="2133">
              <a:solidFill>
                <a:srgbClr val="000000"/>
              </a:solidFill>
              <a:latin typeface="Times New Roman" pitchFamily="18" charset="0"/>
              <a:cs typeface="Times New Roman"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3166745" y="1938867"/>
            <a:ext cx="3593888" cy="4533900"/>
          </a:xfrm>
          <a:prstGeom prst="rect">
            <a:avLst/>
          </a:prstGeom>
        </p:spPr>
      </p:pic>
    </p:spTree>
    <p:extLst>
      <p:ext uri="{BB962C8B-B14F-4D97-AF65-F5344CB8AC3E}">
        <p14:creationId xmlns:p14="http://schemas.microsoft.com/office/powerpoint/2010/main" val="4055582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523433"/>
            <a:ext cx="8739266" cy="1021600"/>
          </a:xfrm>
        </p:spPr>
        <p:txBody>
          <a:bodyPr/>
          <a:lstStyle/>
          <a:p>
            <a:pPr>
              <a:lnSpc>
                <a:spcPct val="150000"/>
              </a:lnSpc>
            </a:pPr>
            <a:r>
              <a:rPr lang="en-US" b="1" dirty="0">
                <a:latin typeface="Times New Roman" pitchFamily="18" charset="0"/>
                <a:cs typeface="Times New Roman" pitchFamily="18" charset="0"/>
              </a:rPr>
              <a:t>  CLASS DIAGRAM</a:t>
            </a:r>
            <a:endParaRPr lang="en-IN" b="1" dirty="0">
              <a:latin typeface="Times New Roman" pitchFamily="18" charset="0"/>
              <a:cs typeface="Times New Roman" pitchFamily="18" charset="0"/>
            </a:endParaRPr>
          </a:p>
        </p:txBody>
      </p:sp>
      <p:sp>
        <p:nvSpPr>
          <p:cNvPr id="3" name="Text Placeholder 2"/>
          <p:cNvSpPr>
            <a:spLocks noGrp="1"/>
          </p:cNvSpPr>
          <p:nvPr>
            <p:ph type="body" idx="1"/>
          </p:nvPr>
        </p:nvSpPr>
        <p:spPr>
          <a:xfrm>
            <a:off x="467514" y="1936266"/>
            <a:ext cx="10562195" cy="4666533"/>
          </a:xfrm>
        </p:spPr>
        <p:txBody>
          <a:bodyPr/>
          <a:lstStyle/>
          <a:p>
            <a:pPr marL="0" lvl="0" indent="0">
              <a:lnSpc>
                <a:spcPct val="150000"/>
              </a:lnSpc>
              <a:buSzPct val="120000"/>
              <a:buNone/>
            </a:pPr>
            <a:endParaRPr lang="en-US" sz="1800" dirty="0">
              <a:solidFill>
                <a:srgbClr val="000000"/>
              </a:solidFill>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a:lnSpc>
                <a:spcPct val="150000"/>
              </a:lnSpc>
            </a:pPr>
            <a:fld id="{00000000-1234-1234-1234-123412341234}" type="slidenum">
              <a:rPr lang="en" sz="2133">
                <a:solidFill>
                  <a:srgbClr val="000000"/>
                </a:solidFill>
                <a:latin typeface="Times New Roman" pitchFamily="18" charset="0"/>
                <a:cs typeface="Times New Roman" pitchFamily="18" charset="0"/>
              </a:rPr>
              <a:pPr>
                <a:lnSpc>
                  <a:spcPct val="150000"/>
                </a:lnSpc>
              </a:pPr>
              <a:t>19</a:t>
            </a:fld>
            <a:endParaRPr lang="en" sz="2133">
              <a:solidFill>
                <a:srgbClr val="000000"/>
              </a:solidFill>
              <a:latin typeface="Times New Roman" pitchFamily="18" charset="0"/>
              <a:cs typeface="Times New Roman" pitchFamily="18"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tretch>
            <a:fillRect/>
          </a:stretch>
        </p:blipFill>
        <p:spPr>
          <a:xfrm>
            <a:off x="2983759" y="1964267"/>
            <a:ext cx="4407641" cy="4635500"/>
          </a:xfrm>
          <a:prstGeom prst="rect">
            <a:avLst/>
          </a:prstGeom>
        </p:spPr>
      </p:pic>
    </p:spTree>
    <p:extLst>
      <p:ext uri="{BB962C8B-B14F-4D97-AF65-F5344CB8AC3E}">
        <p14:creationId xmlns:p14="http://schemas.microsoft.com/office/powerpoint/2010/main" val="165456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43" y="523433"/>
            <a:ext cx="7857057" cy="1021600"/>
          </a:xfrm>
        </p:spPr>
        <p:txBody>
          <a:bodyPr/>
          <a:lstStyle/>
          <a:p>
            <a:r>
              <a:rPr lang="en-IN" b="1" dirty="0">
                <a:latin typeface="Times New Roman" pitchFamily="18" charset="0"/>
                <a:cs typeface="Times New Roman" pitchFamily="18" charset="0"/>
              </a:rPr>
              <a:t>Sample </a:t>
            </a:r>
            <a:r>
              <a:rPr lang="en-IN" b="1" dirty="0" err="1">
                <a:latin typeface="Times New Roman" pitchFamily="18" charset="0"/>
                <a:cs typeface="Times New Roman" pitchFamily="18" charset="0"/>
              </a:rPr>
              <a:t>i</a:t>
            </a:r>
            <a:r>
              <a:rPr lang="en-IN" b="1" dirty="0">
                <a:latin typeface="Times New Roman" pitchFamily="18" charset="0"/>
                <a:cs typeface="Times New Roman" pitchFamily="18" charset="0"/>
              </a:rPr>
              <a:t>/p and o/p</a:t>
            </a:r>
          </a:p>
        </p:txBody>
      </p:sp>
      <p:sp>
        <p:nvSpPr>
          <p:cNvPr id="6" name="Text Placeholder 5">
            <a:extLst>
              <a:ext uri="{FF2B5EF4-FFF2-40B4-BE49-F238E27FC236}">
                <a16:creationId xmlns:a16="http://schemas.microsoft.com/office/drawing/2014/main" id="{AF18DA38-E24D-4257-ACFD-A11090E03475}"/>
              </a:ext>
            </a:extLst>
          </p:cNvPr>
          <p:cNvSpPr>
            <a:spLocks noGrp="1"/>
          </p:cNvSpPr>
          <p:nvPr>
            <p:ph type="body" idx="1"/>
          </p:nvPr>
        </p:nvSpPr>
        <p:spPr>
          <a:xfrm>
            <a:off x="404734" y="1810808"/>
            <a:ext cx="10604765" cy="4791992"/>
          </a:xfrm>
        </p:spPr>
        <p:txBody>
          <a:bodyPr/>
          <a:lstStyle/>
          <a:p>
            <a:pPr marL="135464" indent="0" algn="just">
              <a:lnSpc>
                <a:spcPct val="150000"/>
              </a:lnSpc>
              <a:buNone/>
            </a:pPr>
            <a:r>
              <a:rPr lang="en-US" sz="1800" b="1" dirty="0">
                <a:latin typeface="Times New Roman" pitchFamily="18" charset="0"/>
                <a:cs typeface="Times New Roman" pitchFamily="18" charset="0"/>
              </a:rPr>
              <a:t>Sample I/p and O/P: Mobile App (Input)</a:t>
            </a:r>
            <a:endParaRPr lang="en-US" sz="1800" dirty="0">
              <a:latin typeface="Times New Roman" pitchFamily="18" charset="0"/>
              <a:cs typeface="Times New Roman" pitchFamily="18" charset="0"/>
            </a:endParaRPr>
          </a:p>
          <a:p>
            <a:pPr marL="135464" indent="0" algn="just">
              <a:lnSpc>
                <a:spcPct val="150000"/>
              </a:lnSpc>
              <a:buNone/>
            </a:pPr>
            <a:r>
              <a:rPr lang="en-US" sz="1800" dirty="0">
                <a:latin typeface="Times New Roman" pitchFamily="18" charset="0"/>
                <a:cs typeface="Times New Roman" pitchFamily="18" charset="0"/>
              </a:rPr>
              <a:t>// User generates QR code by entering:</a:t>
            </a:r>
          </a:p>
          <a:p>
            <a:pPr marL="135464" indent="0" algn="just">
              <a:lnSpc>
                <a:spcPct val="150000"/>
              </a:lnSpc>
              <a:buNone/>
            </a:pPr>
            <a:r>
              <a:rPr lang="en-US" sz="1800" dirty="0">
                <a:latin typeface="Times New Roman" pitchFamily="18" charset="0"/>
                <a:cs typeface="Times New Roman" pitchFamily="18" charset="0"/>
              </a:rPr>
              <a:t>{</a:t>
            </a:r>
          </a:p>
          <a:p>
            <a:pPr marL="135464" indent="0" algn="just">
              <a:lnSpc>
                <a:spcPct val="150000"/>
              </a:lnSpc>
              <a:buNone/>
            </a:pPr>
            <a:r>
              <a:rPr lang="en-US" sz="1800" dirty="0">
                <a:latin typeface="Times New Roman" pitchFamily="18" charset="0"/>
                <a:cs typeface="Times New Roman" pitchFamily="18" charset="0"/>
              </a:rPr>
              <a:t>  "action": "</a:t>
            </a:r>
            <a:r>
              <a:rPr lang="en-US" sz="1800" dirty="0" err="1">
                <a:latin typeface="Times New Roman" pitchFamily="18" charset="0"/>
                <a:cs typeface="Times New Roman" pitchFamily="18" charset="0"/>
              </a:rPr>
              <a:t>generate_qr</a:t>
            </a:r>
            <a:r>
              <a:rPr lang="en-US" sz="1800" dirty="0">
                <a:latin typeface="Times New Roman" pitchFamily="18" charset="0"/>
                <a:cs typeface="Times New Roman" pitchFamily="18" charset="0"/>
              </a:rPr>
              <a:t>",</a:t>
            </a:r>
          </a:p>
          <a:p>
            <a:pPr marL="135464" indent="0" algn="just">
              <a:lnSpc>
                <a:spcPct val="150000"/>
              </a:lnSpc>
              <a:buNone/>
            </a:pPr>
            <a:r>
              <a:rPr lang="en-US" sz="1800" dirty="0">
                <a:latin typeface="Times New Roman" pitchFamily="18" charset="0"/>
                <a:cs typeface="Times New Roman" pitchFamily="18" charset="0"/>
              </a:rPr>
              <a:t>  "amount": 5000,</a:t>
            </a:r>
          </a:p>
          <a:p>
            <a:pPr marL="135464" indent="0" algn="just">
              <a:lnSpc>
                <a:spcPct val="150000"/>
              </a:lnSpc>
              <a:buNone/>
            </a:pPr>
            <a:r>
              <a:rPr lang="en-US" sz="1800" dirty="0">
                <a:latin typeface="Times New Roman" pitchFamily="18" charset="0"/>
                <a:cs typeface="Times New Roman" pitchFamily="18" charset="0"/>
              </a:rPr>
              <a:t>  "pin": "2468"  // (4-digit secret PIN)</a:t>
            </a:r>
          </a:p>
          <a:p>
            <a:pPr marL="135464" indent="0" algn="just">
              <a:lnSpc>
                <a:spcPct val="150000"/>
              </a:lnSpc>
              <a:buNone/>
            </a:pPr>
            <a:r>
              <a:rPr lang="en-US" sz="1800" dirty="0">
                <a:latin typeface="Times New Roman" pitchFamily="18" charset="0"/>
                <a:cs typeface="Times New Roman" pitchFamily="18" charset="0"/>
              </a:rPr>
              <a:t>}</a:t>
            </a:r>
          </a:p>
          <a:p>
            <a:pPr marL="135464" indent="0" algn="just">
              <a:lnSpc>
                <a:spcPct val="150000"/>
              </a:lnSpc>
              <a:buNone/>
            </a:pPr>
            <a:r>
              <a:rPr lang="en-US" sz="1800" dirty="0">
                <a:latin typeface="Times New Roman" pitchFamily="18" charset="0"/>
                <a:cs typeface="Times New Roman" pitchFamily="18" charset="0"/>
              </a:rPr>
              <a:t>// System Output (QR content - encrypted):</a:t>
            </a:r>
          </a:p>
          <a:p>
            <a:pPr marL="135464" indent="0" algn="just">
              <a:lnSpc>
                <a:spcPct val="150000"/>
              </a:lnSpc>
              <a:buNone/>
            </a:pPr>
            <a:r>
              <a:rPr lang="en-US" sz="1800" dirty="0">
                <a:latin typeface="Times New Roman" pitchFamily="18" charset="0"/>
                <a:cs typeface="Times New Roman" pitchFamily="18" charset="0"/>
              </a:rPr>
              <a:t>"eyJ1aWQiOiJ1c2VyMTIzIiw...&lt;base64_encoded_data&gt;“</a:t>
            </a:r>
          </a:p>
          <a:p>
            <a:pPr marL="135464" indent="0" algn="just">
              <a:lnSpc>
                <a:spcPct val="150000"/>
              </a:lnSpc>
              <a:buNone/>
            </a:pPr>
            <a:endParaRPr lang="en-US" sz="1800" dirty="0">
              <a:latin typeface="Times New Roman" pitchFamily="18" charset="0"/>
              <a:cs typeface="Times New Roman" pitchFamily="18" charset="0"/>
            </a:endParaRPr>
          </a:p>
          <a:p>
            <a:pPr marL="135464" indent="0" algn="just">
              <a:lnSpc>
                <a:spcPct val="150000"/>
              </a:lnSpc>
              <a:buNone/>
            </a:pPr>
            <a:endParaRPr lang="en-US" sz="1800" dirty="0">
              <a:latin typeface="Times New Roman" pitchFamily="18" charset="0"/>
              <a:cs typeface="Times New Roman" pitchFamily="18" charset="0"/>
            </a:endParaRPr>
          </a:p>
          <a:p>
            <a:pPr marL="135464" indent="0" algn="just">
              <a:lnSpc>
                <a:spcPct val="150000"/>
              </a:lnSpc>
              <a:buNone/>
            </a:pPr>
            <a:endParaRPr lang="en-US" sz="1800"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20</a:t>
            </a:fld>
            <a:endParaRPr lang="en"/>
          </a:p>
        </p:txBody>
      </p:sp>
    </p:spTree>
    <p:extLst>
      <p:ext uri="{BB962C8B-B14F-4D97-AF65-F5344CB8AC3E}">
        <p14:creationId xmlns:p14="http://schemas.microsoft.com/office/powerpoint/2010/main" val="1720445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43" y="523433"/>
            <a:ext cx="7857057" cy="1021600"/>
          </a:xfrm>
        </p:spPr>
        <p:txBody>
          <a:bodyPr/>
          <a:lstStyle/>
          <a:p>
            <a:r>
              <a:rPr lang="en-IN" b="1" dirty="0">
                <a:latin typeface="Times New Roman" pitchFamily="18" charset="0"/>
                <a:cs typeface="Times New Roman" pitchFamily="18" charset="0"/>
              </a:rPr>
              <a:t>Sample </a:t>
            </a:r>
            <a:r>
              <a:rPr lang="en-IN" b="1" dirty="0" err="1">
                <a:latin typeface="Times New Roman" pitchFamily="18" charset="0"/>
                <a:cs typeface="Times New Roman" pitchFamily="18" charset="0"/>
              </a:rPr>
              <a:t>i</a:t>
            </a:r>
            <a:r>
              <a:rPr lang="en-IN" b="1" dirty="0">
                <a:latin typeface="Times New Roman" pitchFamily="18" charset="0"/>
                <a:cs typeface="Times New Roman" pitchFamily="18" charset="0"/>
              </a:rPr>
              <a:t>/p and o/p</a:t>
            </a:r>
          </a:p>
        </p:txBody>
      </p:sp>
      <p:sp>
        <p:nvSpPr>
          <p:cNvPr id="6" name="Text Placeholder 5">
            <a:extLst>
              <a:ext uri="{FF2B5EF4-FFF2-40B4-BE49-F238E27FC236}">
                <a16:creationId xmlns:a16="http://schemas.microsoft.com/office/drawing/2014/main" id="{AF18DA38-E24D-4257-ACFD-A11090E03475}"/>
              </a:ext>
            </a:extLst>
          </p:cNvPr>
          <p:cNvSpPr>
            <a:spLocks noGrp="1"/>
          </p:cNvSpPr>
          <p:nvPr>
            <p:ph type="body" idx="1"/>
          </p:nvPr>
        </p:nvSpPr>
        <p:spPr>
          <a:xfrm>
            <a:off x="404734" y="1810808"/>
            <a:ext cx="10604765" cy="4791992"/>
          </a:xfrm>
        </p:spPr>
        <p:txBody>
          <a:bodyPr/>
          <a:lstStyle/>
          <a:p>
            <a:pPr marL="135464" indent="0">
              <a:buNone/>
            </a:pPr>
            <a:r>
              <a:rPr lang="en-US" sz="1800" b="1" dirty="0">
                <a:latin typeface="Times New Roman" panose="02020603050405020304" pitchFamily="18" charset="0"/>
                <a:cs typeface="Times New Roman" pitchFamily="18" charset="0"/>
              </a:rPr>
              <a:t>Sample i/p and o/p:  ATM Terminal (Input)</a:t>
            </a:r>
          </a:p>
          <a:p>
            <a:pPr marL="135464" indent="0" algn="just">
              <a:lnSpc>
                <a:spcPct val="150000"/>
              </a:lnSpc>
              <a:buNone/>
            </a:pPr>
            <a:r>
              <a:rPr lang="en-US" sz="1800" dirty="0">
                <a:latin typeface="Times New Roman" pitchFamily="18" charset="0"/>
                <a:cs typeface="Times New Roman" pitchFamily="18" charset="0"/>
              </a:rPr>
              <a:t>// ATM scans QR and sends to server:</a:t>
            </a:r>
          </a:p>
          <a:p>
            <a:pPr marL="135464" indent="0" algn="just">
              <a:lnSpc>
                <a:spcPct val="100000"/>
              </a:lnSpc>
              <a:buNone/>
            </a:pPr>
            <a:r>
              <a:rPr lang="en-US" sz="1800" dirty="0">
                <a:latin typeface="Times New Roman" pitchFamily="18" charset="0"/>
                <a:cs typeface="Times New Roman" pitchFamily="18" charset="0"/>
              </a:rPr>
              <a:t>{</a:t>
            </a:r>
          </a:p>
          <a:p>
            <a:pPr marL="135464" indent="0" algn="just">
              <a:lnSpc>
                <a:spcPct val="100000"/>
              </a:lnSpc>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qr_data</a:t>
            </a:r>
            <a:r>
              <a:rPr lang="en-US" sz="1800" dirty="0">
                <a:latin typeface="Times New Roman" pitchFamily="18" charset="0"/>
                <a:cs typeface="Times New Roman" pitchFamily="18" charset="0"/>
              </a:rPr>
              <a:t>": "eyJ1aWQiOiJ1c2VyMTIzIiw...",</a:t>
            </a:r>
          </a:p>
          <a:p>
            <a:pPr marL="135464" indent="0" algn="just">
              <a:lnSpc>
                <a:spcPct val="100000"/>
              </a:lnSpc>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atm_id</a:t>
            </a:r>
            <a:r>
              <a:rPr lang="en-US" sz="1800" dirty="0">
                <a:latin typeface="Times New Roman" pitchFamily="18" charset="0"/>
                <a:cs typeface="Times New Roman" pitchFamily="18" charset="0"/>
              </a:rPr>
              <a:t>": "ATM_007"</a:t>
            </a:r>
          </a:p>
          <a:p>
            <a:pPr marL="135464" indent="0" algn="just">
              <a:lnSpc>
                <a:spcPct val="100000"/>
              </a:lnSpc>
              <a:buNone/>
            </a:pPr>
            <a:r>
              <a:rPr lang="en-US" sz="1800" dirty="0">
                <a:latin typeface="Times New Roman" pitchFamily="18" charset="0"/>
                <a:cs typeface="Times New Roman" pitchFamily="18" charset="0"/>
              </a:rPr>
              <a:t>}</a:t>
            </a:r>
          </a:p>
          <a:p>
            <a:pPr marL="135464" indent="0" algn="just">
              <a:lnSpc>
                <a:spcPct val="100000"/>
              </a:lnSpc>
              <a:buNone/>
            </a:pPr>
            <a:r>
              <a:rPr lang="en-US" sz="1800" dirty="0">
                <a:latin typeface="Times New Roman" pitchFamily="18" charset="0"/>
                <a:cs typeface="Times New Roman" pitchFamily="18" charset="0"/>
              </a:rPr>
              <a:t>// Server validates and responds:</a:t>
            </a:r>
          </a:p>
          <a:p>
            <a:pPr marL="135464" indent="0" algn="just">
              <a:lnSpc>
                <a:spcPct val="100000"/>
              </a:lnSpc>
              <a:buNone/>
            </a:pPr>
            <a:r>
              <a:rPr lang="en-US" sz="1800" dirty="0">
                <a:latin typeface="Times New Roman" pitchFamily="18" charset="0"/>
                <a:cs typeface="Times New Roman" pitchFamily="18" charset="0"/>
              </a:rPr>
              <a:t>{</a:t>
            </a:r>
          </a:p>
          <a:p>
            <a:pPr marL="135464" indent="0" algn="just">
              <a:lnSpc>
                <a:spcPct val="100000"/>
              </a:lnSpc>
              <a:buNone/>
            </a:pPr>
            <a:r>
              <a:rPr lang="en-US" sz="1800" dirty="0">
                <a:latin typeface="Times New Roman" pitchFamily="18" charset="0"/>
                <a:cs typeface="Times New Roman" pitchFamily="18" charset="0"/>
              </a:rPr>
              <a:t>  "status": "</a:t>
            </a:r>
            <a:r>
              <a:rPr lang="en-US" sz="1800" dirty="0" err="1">
                <a:latin typeface="Times New Roman" pitchFamily="18" charset="0"/>
                <a:cs typeface="Times New Roman" pitchFamily="18" charset="0"/>
              </a:rPr>
              <a:t>pin_required</a:t>
            </a:r>
            <a:r>
              <a:rPr lang="en-US" sz="1800" dirty="0">
                <a:latin typeface="Times New Roman" pitchFamily="18" charset="0"/>
                <a:cs typeface="Times New Roman" pitchFamily="18" charset="0"/>
              </a:rPr>
              <a:t>",</a:t>
            </a:r>
          </a:p>
          <a:p>
            <a:pPr marL="135464" indent="0" algn="just">
              <a:lnSpc>
                <a:spcPct val="100000"/>
              </a:lnSpc>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user_mask</a:t>
            </a:r>
            <a:r>
              <a:rPr lang="en-US" sz="1800" dirty="0">
                <a:latin typeface="Times New Roman" pitchFamily="18" charset="0"/>
                <a:cs typeface="Times New Roman" pitchFamily="18" charset="0"/>
              </a:rPr>
              <a:t>": "UserXXXX23",</a:t>
            </a:r>
          </a:p>
          <a:p>
            <a:pPr marL="135464" indent="0" algn="just">
              <a:lnSpc>
                <a:spcPct val="100000"/>
              </a:lnSpc>
              <a:buNone/>
            </a:pPr>
            <a:r>
              <a:rPr lang="en-US" sz="1800" dirty="0">
                <a:latin typeface="Times New Roman" pitchFamily="18" charset="0"/>
                <a:cs typeface="Times New Roman" pitchFamily="18" charset="0"/>
              </a:rPr>
              <a:t>  "amount": 5000</a:t>
            </a:r>
          </a:p>
          <a:p>
            <a:pPr marL="135464" indent="0" algn="just">
              <a:lnSpc>
                <a:spcPct val="100000"/>
              </a:lnSpc>
              <a:buNone/>
            </a:pPr>
            <a:r>
              <a:rPr lang="en-US" sz="1800" dirty="0">
                <a:latin typeface="Times New Roman" pitchFamily="18" charset="0"/>
                <a:cs typeface="Times New Roman" pitchFamily="18" charset="0"/>
              </a:rPr>
              <a:t>} //(ATM now shows PIN pad)</a:t>
            </a:r>
          </a:p>
          <a:p>
            <a:pPr marL="135464" indent="0" algn="just">
              <a:lnSpc>
                <a:spcPct val="150000"/>
              </a:lnSpc>
              <a:buNone/>
            </a:pPr>
            <a:endParaRPr lang="en-US" sz="1800" dirty="0">
              <a:latin typeface="Times New Roman" pitchFamily="18" charset="0"/>
              <a:cs typeface="Times New Roman" pitchFamily="18" charset="0"/>
            </a:endParaRPr>
          </a:p>
          <a:p>
            <a:pPr marL="135464" indent="0" algn="just">
              <a:lnSpc>
                <a:spcPct val="150000"/>
              </a:lnSpc>
              <a:buNone/>
            </a:pPr>
            <a:endParaRPr lang="en-US" sz="1800"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21</a:t>
            </a:fld>
            <a:endParaRPr lang="en"/>
          </a:p>
        </p:txBody>
      </p:sp>
    </p:spTree>
    <p:extLst>
      <p:ext uri="{BB962C8B-B14F-4D97-AF65-F5344CB8AC3E}">
        <p14:creationId xmlns:p14="http://schemas.microsoft.com/office/powerpoint/2010/main" val="3902040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43" y="523433"/>
            <a:ext cx="7857057" cy="1021600"/>
          </a:xfrm>
        </p:spPr>
        <p:txBody>
          <a:bodyPr/>
          <a:lstStyle/>
          <a:p>
            <a:r>
              <a:rPr lang="en-IN" b="1" dirty="0">
                <a:latin typeface="Times New Roman" pitchFamily="18" charset="0"/>
                <a:cs typeface="Times New Roman" pitchFamily="18" charset="0"/>
              </a:rPr>
              <a:t>Sample </a:t>
            </a:r>
            <a:r>
              <a:rPr lang="en-IN" b="1" dirty="0" err="1">
                <a:latin typeface="Times New Roman" pitchFamily="18" charset="0"/>
                <a:cs typeface="Times New Roman" pitchFamily="18" charset="0"/>
              </a:rPr>
              <a:t>i</a:t>
            </a:r>
            <a:r>
              <a:rPr lang="en-IN" b="1" dirty="0">
                <a:latin typeface="Times New Roman" pitchFamily="18" charset="0"/>
                <a:cs typeface="Times New Roman" pitchFamily="18" charset="0"/>
              </a:rPr>
              <a:t>/p and o/p</a:t>
            </a:r>
          </a:p>
        </p:txBody>
      </p:sp>
      <p:sp>
        <p:nvSpPr>
          <p:cNvPr id="6" name="Text Placeholder 5">
            <a:extLst>
              <a:ext uri="{FF2B5EF4-FFF2-40B4-BE49-F238E27FC236}">
                <a16:creationId xmlns:a16="http://schemas.microsoft.com/office/drawing/2014/main" id="{AF18DA38-E24D-4257-ACFD-A11090E03475}"/>
              </a:ext>
            </a:extLst>
          </p:cNvPr>
          <p:cNvSpPr>
            <a:spLocks noGrp="1"/>
          </p:cNvSpPr>
          <p:nvPr>
            <p:ph type="body" idx="1"/>
          </p:nvPr>
        </p:nvSpPr>
        <p:spPr>
          <a:xfrm>
            <a:off x="404734" y="1810808"/>
            <a:ext cx="10604765" cy="4791992"/>
          </a:xfrm>
        </p:spPr>
        <p:txBody>
          <a:bodyPr/>
          <a:lstStyle/>
          <a:p>
            <a:pPr marL="135464" indent="0">
              <a:buNone/>
            </a:pPr>
            <a:r>
              <a:rPr lang="en-US" sz="1800" b="1" dirty="0">
                <a:latin typeface="Times New Roman" panose="02020603050405020304" pitchFamily="18" charset="0"/>
                <a:cs typeface="Times New Roman" pitchFamily="18" charset="0"/>
              </a:rPr>
              <a:t>Sample i/p and o/p:  PIN Verification (Input)</a:t>
            </a:r>
            <a:endParaRPr lang="en-US" sz="1800" dirty="0">
              <a:latin typeface="Times New Roman" panose="02020603050405020304" pitchFamily="18" charset="0"/>
              <a:cs typeface="Times New Roman" panose="02020603050405020304" pitchFamily="18" charset="0"/>
            </a:endParaRPr>
          </a:p>
          <a:p>
            <a:pPr marL="135464" indent="0" algn="just">
              <a:lnSpc>
                <a:spcPct val="100000"/>
              </a:lnSpc>
              <a:buNone/>
            </a:pPr>
            <a:r>
              <a:rPr lang="en-US" sz="1800" dirty="0">
                <a:latin typeface="Times New Roman" panose="02020603050405020304" pitchFamily="18" charset="0"/>
                <a:cs typeface="Times New Roman" panose="02020603050405020304" pitchFamily="18" charset="0"/>
              </a:rPr>
              <a:t>// User enters PIN at ATM:</a:t>
            </a:r>
          </a:p>
          <a:p>
            <a:pPr marL="135464" indent="0" algn="just">
              <a:lnSpc>
                <a:spcPct val="100000"/>
              </a:lnSpc>
              <a:buNone/>
            </a:pPr>
            <a:r>
              <a:rPr lang="en-US" sz="1800" dirty="0">
                <a:latin typeface="Times New Roman" panose="02020603050405020304" pitchFamily="18" charset="0"/>
                <a:cs typeface="Times New Roman" panose="02020603050405020304" pitchFamily="18" charset="0"/>
              </a:rPr>
              <a:t>{</a:t>
            </a:r>
          </a:p>
          <a:p>
            <a:pPr marL="135464" indent="0" algn="just">
              <a:lnSpc>
                <a:spcPct val="100000"/>
              </a:lnSpc>
              <a:buNone/>
            </a:pPr>
            <a:r>
              <a:rPr lang="en-US" sz="1800" dirty="0">
                <a:latin typeface="Times New Roman" panose="02020603050405020304" pitchFamily="18" charset="0"/>
                <a:cs typeface="Times New Roman" panose="02020603050405020304" pitchFamily="18" charset="0"/>
              </a:rPr>
              <a:t>  "pin": "2468"  // (Matches QR-embedded PIN)</a:t>
            </a:r>
          </a:p>
          <a:p>
            <a:pPr marL="135464" indent="0" algn="just">
              <a:lnSpc>
                <a:spcPct val="100000"/>
              </a:lnSpc>
              <a:buNone/>
            </a:pPr>
            <a:r>
              <a:rPr lang="en-US" sz="1800" dirty="0">
                <a:latin typeface="Times New Roman" pitchFamily="18" charset="0"/>
                <a:cs typeface="Times New Roman" pitchFamily="18" charset="0"/>
              </a:rPr>
              <a:t>}</a:t>
            </a:r>
          </a:p>
          <a:p>
            <a:pPr marL="135464" indent="0" algn="just">
              <a:lnSpc>
                <a:spcPct val="100000"/>
              </a:lnSpc>
              <a:buNone/>
            </a:pPr>
            <a:r>
              <a:rPr lang="en-US" sz="1800" dirty="0">
                <a:latin typeface="Times New Roman" pitchFamily="18" charset="0"/>
                <a:cs typeface="Times New Roman" pitchFamily="18" charset="0"/>
              </a:rPr>
              <a:t>// Server response:</a:t>
            </a:r>
          </a:p>
          <a:p>
            <a:pPr marL="135464" indent="0" algn="just">
              <a:lnSpc>
                <a:spcPct val="100000"/>
              </a:lnSpc>
              <a:buNone/>
            </a:pPr>
            <a:r>
              <a:rPr lang="en-US" sz="1800" dirty="0">
                <a:latin typeface="Times New Roman" pitchFamily="18" charset="0"/>
                <a:cs typeface="Times New Roman" pitchFamily="18" charset="0"/>
              </a:rPr>
              <a:t>{</a:t>
            </a:r>
          </a:p>
          <a:p>
            <a:pPr marL="135464" indent="0" algn="just">
              <a:lnSpc>
                <a:spcPct val="100000"/>
              </a:lnSpc>
              <a:buNone/>
            </a:pPr>
            <a:r>
              <a:rPr lang="en-US" sz="1800" dirty="0">
                <a:latin typeface="Times New Roman" pitchFamily="18" charset="0"/>
                <a:cs typeface="Times New Roman" pitchFamily="18" charset="0"/>
              </a:rPr>
              <a:t>  "status": "approved",</a:t>
            </a:r>
          </a:p>
          <a:p>
            <a:pPr marL="135464" indent="0" algn="just">
              <a:lnSpc>
                <a:spcPct val="100000"/>
              </a:lnSpc>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transaction_id</a:t>
            </a:r>
            <a:r>
              <a:rPr lang="en-US" sz="1800" dirty="0">
                <a:latin typeface="Times New Roman" pitchFamily="18" charset="0"/>
                <a:cs typeface="Times New Roman" pitchFamily="18" charset="0"/>
              </a:rPr>
              <a:t>": "TXN_20250524_123456",</a:t>
            </a:r>
          </a:p>
          <a:p>
            <a:pPr marL="135464" indent="0" algn="just">
              <a:lnSpc>
                <a:spcPct val="100000"/>
              </a:lnSpc>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dispense_amount</a:t>
            </a:r>
            <a:r>
              <a:rPr lang="en-US" sz="1800" dirty="0">
                <a:latin typeface="Times New Roman" pitchFamily="18" charset="0"/>
                <a:cs typeface="Times New Roman" pitchFamily="18" charset="0"/>
              </a:rPr>
              <a:t>": 5000</a:t>
            </a:r>
          </a:p>
          <a:p>
            <a:pPr marL="135464" indent="0" algn="just">
              <a:lnSpc>
                <a:spcPct val="100000"/>
              </a:lnSpc>
              <a:buNone/>
            </a:pPr>
            <a:r>
              <a:rPr lang="en-US" sz="1800" dirty="0">
                <a:latin typeface="Times New Roman" pitchFamily="18" charset="0"/>
                <a:cs typeface="Times New Roman" pitchFamily="18" charset="0"/>
              </a:rPr>
              <a:t>}</a:t>
            </a:r>
          </a:p>
          <a:p>
            <a:pPr marL="135464" indent="0" algn="just">
              <a:lnSpc>
                <a:spcPct val="150000"/>
              </a:lnSpc>
              <a:buNone/>
            </a:pPr>
            <a:endParaRPr lang="en-US" sz="1800"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22</a:t>
            </a:fld>
            <a:endParaRPr lang="en"/>
          </a:p>
        </p:txBody>
      </p:sp>
    </p:spTree>
    <p:extLst>
      <p:ext uri="{BB962C8B-B14F-4D97-AF65-F5344CB8AC3E}">
        <p14:creationId xmlns:p14="http://schemas.microsoft.com/office/powerpoint/2010/main" val="3225898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43" y="523433"/>
            <a:ext cx="7857057" cy="1021600"/>
          </a:xfrm>
        </p:spPr>
        <p:txBody>
          <a:bodyPr/>
          <a:lstStyle/>
          <a:p>
            <a:r>
              <a:rPr lang="en-IN" b="1" dirty="0">
                <a:latin typeface="Times New Roman" pitchFamily="18" charset="0"/>
                <a:cs typeface="Times New Roman" pitchFamily="18" charset="0"/>
              </a:rPr>
              <a:t>Sample </a:t>
            </a:r>
            <a:r>
              <a:rPr lang="en-IN" b="1" dirty="0" err="1">
                <a:latin typeface="Times New Roman" pitchFamily="18" charset="0"/>
                <a:cs typeface="Times New Roman" pitchFamily="18" charset="0"/>
              </a:rPr>
              <a:t>i</a:t>
            </a:r>
            <a:r>
              <a:rPr lang="en-IN" b="1" dirty="0">
                <a:latin typeface="Times New Roman" pitchFamily="18" charset="0"/>
                <a:cs typeface="Times New Roman" pitchFamily="18" charset="0"/>
              </a:rPr>
              <a:t>/p and o/p</a:t>
            </a:r>
          </a:p>
        </p:txBody>
      </p:sp>
      <p:sp>
        <p:nvSpPr>
          <p:cNvPr id="6" name="Text Placeholder 5">
            <a:extLst>
              <a:ext uri="{FF2B5EF4-FFF2-40B4-BE49-F238E27FC236}">
                <a16:creationId xmlns:a16="http://schemas.microsoft.com/office/drawing/2014/main" id="{AF18DA38-E24D-4257-ACFD-A11090E03475}"/>
              </a:ext>
            </a:extLst>
          </p:cNvPr>
          <p:cNvSpPr>
            <a:spLocks noGrp="1"/>
          </p:cNvSpPr>
          <p:nvPr>
            <p:ph type="body" idx="1"/>
          </p:nvPr>
        </p:nvSpPr>
        <p:spPr>
          <a:xfrm>
            <a:off x="404734" y="1810808"/>
            <a:ext cx="10604765" cy="4791992"/>
          </a:xfrm>
        </p:spPr>
        <p:txBody>
          <a:bodyPr/>
          <a:lstStyle/>
          <a:p>
            <a:pPr marL="135464" indent="0">
              <a:buNone/>
            </a:pPr>
            <a:r>
              <a:rPr lang="en-US" sz="1800" b="1" dirty="0">
                <a:latin typeface="Times New Roman" panose="02020603050405020304" pitchFamily="18" charset="0"/>
                <a:cs typeface="Times New Roman" pitchFamily="18" charset="0"/>
              </a:rPr>
              <a:t>Sample i/p and o/p:  Cash Dispensing (Output)</a:t>
            </a:r>
            <a:endParaRPr lang="en-US" sz="1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23</a:t>
            </a:fld>
            <a:endParaRPr lang="en"/>
          </a:p>
        </p:txBody>
      </p:sp>
      <p:pic>
        <p:nvPicPr>
          <p:cNvPr id="7" name="Picture 6"/>
          <p:cNvPicPr/>
          <p:nvPr/>
        </p:nvPicPr>
        <p:blipFill>
          <a:blip r:embed="rId2" cstate="print">
            <a:extLst>
              <a:ext uri="{28A0092B-C50C-407E-A947-70E740481C1C}">
                <a14:useLocalDpi xmlns:a14="http://schemas.microsoft.com/office/drawing/2010/main" val="0"/>
              </a:ext>
            </a:extLst>
          </a:blip>
          <a:stretch>
            <a:fillRect/>
          </a:stretch>
        </p:blipFill>
        <p:spPr>
          <a:xfrm>
            <a:off x="1198033" y="2520208"/>
            <a:ext cx="6570133" cy="3300625"/>
          </a:xfrm>
          <a:prstGeom prst="rect">
            <a:avLst/>
          </a:prstGeom>
        </p:spPr>
      </p:pic>
    </p:spTree>
    <p:extLst>
      <p:ext uri="{BB962C8B-B14F-4D97-AF65-F5344CB8AC3E}">
        <p14:creationId xmlns:p14="http://schemas.microsoft.com/office/powerpoint/2010/main" val="3153526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43" y="523433"/>
            <a:ext cx="7857057" cy="1021600"/>
          </a:xfrm>
        </p:spPr>
        <p:txBody>
          <a:bodyPr/>
          <a:lstStyle/>
          <a:p>
            <a:r>
              <a:rPr lang="en-US" b="1" dirty="0">
                <a:latin typeface="Times New Roman" pitchFamily="18" charset="0"/>
                <a:cs typeface="Times New Roman" pitchFamily="18" charset="0"/>
              </a:rPr>
              <a:t>CONCLUSION</a:t>
            </a:r>
            <a:endParaRPr lang="en-IN" b="1" dirty="0">
              <a:latin typeface="Times New Roman" pitchFamily="18" charset="0"/>
              <a:cs typeface="Times New Roman" pitchFamily="18" charset="0"/>
            </a:endParaRPr>
          </a:p>
        </p:txBody>
      </p:sp>
      <p:sp>
        <p:nvSpPr>
          <p:cNvPr id="6" name="Text Placeholder 5">
            <a:extLst>
              <a:ext uri="{FF2B5EF4-FFF2-40B4-BE49-F238E27FC236}">
                <a16:creationId xmlns:a16="http://schemas.microsoft.com/office/drawing/2014/main" id="{AF18DA38-E24D-4257-ACFD-A11090E03475}"/>
              </a:ext>
            </a:extLst>
          </p:cNvPr>
          <p:cNvSpPr>
            <a:spLocks noGrp="1"/>
          </p:cNvSpPr>
          <p:nvPr>
            <p:ph type="body" idx="1"/>
          </p:nvPr>
        </p:nvSpPr>
        <p:spPr>
          <a:xfrm>
            <a:off x="404734" y="1810808"/>
            <a:ext cx="10604765" cy="4791992"/>
          </a:xfrm>
        </p:spPr>
        <p:txBody>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project successfully developed a secure and user-friendly QR-based ATM system to improve traditional cash withdrawal methods. Instead of using physical cards and static PINs, the system uses QR codes and temporary PINs to protect users from fraud like card skimming and PIN theft. The process is fast, safe, and contactless.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With tools like Python, Flask, </a:t>
            </a:r>
            <a:r>
              <a:rPr lang="en-US" sz="1800" dirty="0" err="1">
                <a:latin typeface="Times New Roman" panose="02020603050405020304" pitchFamily="18" charset="0"/>
                <a:cs typeface="Times New Roman" panose="02020603050405020304" pitchFamily="18" charset="0"/>
              </a:rPr>
              <a:t>OpenCV</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Pyzbar</a:t>
            </a:r>
            <a:r>
              <a:rPr lang="en-US" sz="1800" dirty="0">
                <a:latin typeface="Times New Roman" panose="02020603050405020304" pitchFamily="18" charset="0"/>
                <a:cs typeface="Times New Roman" panose="02020603050405020304" pitchFamily="18" charset="0"/>
              </a:rPr>
              <a:t>, the system allows users to log in through a mobile app, generate a QR code, and scan it at the ATM for quick access to their funds. This solution not only makes ATM use easier and faster but also offers better protection and convenience for modern banking needs.</a:t>
            </a:r>
          </a:p>
          <a:p>
            <a:pPr algn="just">
              <a:lnSpc>
                <a:spcPct val="15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24</a:t>
            </a:fld>
            <a:endParaRPr lang="en"/>
          </a:p>
        </p:txBody>
      </p:sp>
    </p:spTree>
    <p:extLst>
      <p:ext uri="{BB962C8B-B14F-4D97-AF65-F5344CB8AC3E}">
        <p14:creationId xmlns:p14="http://schemas.microsoft.com/office/powerpoint/2010/main" val="3038493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43" y="523433"/>
            <a:ext cx="7857057" cy="1021600"/>
          </a:xfrm>
        </p:spPr>
        <p:txBody>
          <a:bodyPr/>
          <a:lstStyle/>
          <a:p>
            <a:r>
              <a:rPr lang="en-US" b="1" dirty="0">
                <a:latin typeface="Times New Roman" panose="02020603050405020304" pitchFamily="18" charset="0"/>
                <a:cs typeface="Times New Roman" panose="02020603050405020304" pitchFamily="18" charset="0"/>
              </a:rPr>
              <a:t>FUTURE ENHANCEMENT</a:t>
            </a:r>
            <a:endParaRPr lang="en-IN" b="1" dirty="0">
              <a:latin typeface="Times New Roman" pitchFamily="18" charset="0"/>
              <a:cs typeface="Times New Roman" pitchFamily="18" charset="0"/>
            </a:endParaRPr>
          </a:p>
        </p:txBody>
      </p:sp>
      <p:sp>
        <p:nvSpPr>
          <p:cNvPr id="6" name="Text Placeholder 5">
            <a:extLst>
              <a:ext uri="{FF2B5EF4-FFF2-40B4-BE49-F238E27FC236}">
                <a16:creationId xmlns:a16="http://schemas.microsoft.com/office/drawing/2014/main" id="{AF18DA38-E24D-4257-ACFD-A11090E03475}"/>
              </a:ext>
            </a:extLst>
          </p:cNvPr>
          <p:cNvSpPr>
            <a:spLocks noGrp="1"/>
          </p:cNvSpPr>
          <p:nvPr>
            <p:ph type="body" idx="1"/>
          </p:nvPr>
        </p:nvSpPr>
        <p:spPr>
          <a:xfrm>
            <a:off x="404734" y="1810808"/>
            <a:ext cx="10604765" cy="4791992"/>
          </a:xfrm>
        </p:spPr>
        <p:txBody>
          <a:bodyPr>
            <a:noAutofit/>
          </a:bodyPr>
          <a:lstStyle/>
          <a:p>
            <a:pPr marL="135464" indent="0">
              <a:lnSpc>
                <a:spcPct val="150000"/>
              </a:lnSpc>
              <a:buNone/>
            </a:pPr>
            <a:r>
              <a:rPr lang="en-US" sz="1700" dirty="0">
                <a:latin typeface="Times New Roman" panose="02020603050405020304" pitchFamily="18" charset="0"/>
                <a:cs typeface="Times New Roman" panose="02020603050405020304" pitchFamily="18" charset="0"/>
              </a:rPr>
              <a:t>While the Advanced QR-Based ATM System already improves security and removes the need for physical cards, there are ways to make it even better for future use.</a:t>
            </a:r>
          </a:p>
          <a:p>
            <a:pPr>
              <a:lnSpc>
                <a:spcPct val="150000"/>
              </a:lnSpc>
              <a:buFont typeface="Wingdings" panose="05000000000000000000" pitchFamily="2" charset="2"/>
              <a:buChar char="Ø"/>
            </a:pPr>
            <a:r>
              <a:rPr lang="en-US" sz="1700" b="1" dirty="0">
                <a:latin typeface="Times New Roman" panose="02020603050405020304" pitchFamily="18" charset="0"/>
                <a:cs typeface="Times New Roman" panose="02020603050405020304" pitchFamily="18" charset="0"/>
              </a:rPr>
              <a:t>Biometric Security</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Adding fingerprint or face recognition can make the system even safer, especially for large or risky transactions.</a:t>
            </a:r>
          </a:p>
          <a:p>
            <a:pPr>
              <a:lnSpc>
                <a:spcPct val="150000"/>
              </a:lnSpc>
              <a:buFont typeface="Wingdings" panose="05000000000000000000" pitchFamily="2" charset="2"/>
              <a:buChar char="Ø"/>
            </a:pPr>
            <a:r>
              <a:rPr lang="en-US" sz="1700" b="1" dirty="0">
                <a:latin typeface="Times New Roman" panose="02020603050405020304" pitchFamily="18" charset="0"/>
                <a:cs typeface="Times New Roman" panose="02020603050405020304" pitchFamily="18" charset="0"/>
              </a:rPr>
              <a:t>Smart Fraud Detection</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With AI and machine learning, the system can watch for unusual activity, like failed PIN attempts, and stop fraud before it happens.</a:t>
            </a:r>
          </a:p>
          <a:p>
            <a:pPr>
              <a:lnSpc>
                <a:spcPct val="150000"/>
              </a:lnSpc>
              <a:buFont typeface="Wingdings" panose="05000000000000000000" pitchFamily="2" charset="2"/>
              <a:buChar char="Ø"/>
            </a:pPr>
            <a:r>
              <a:rPr lang="en-US" sz="1700" b="1" dirty="0">
                <a:latin typeface="Times New Roman" panose="02020603050405020304" pitchFamily="18" charset="0"/>
                <a:cs typeface="Times New Roman" panose="02020603050405020304" pitchFamily="18" charset="0"/>
              </a:rPr>
              <a:t>OTP for Extra Safety</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Sending a one-time password to the user's phone or email adds another layer of protection, especially for unknown devices</a:t>
            </a:r>
          </a:p>
        </p:txBody>
      </p:sp>
      <p:sp>
        <p:nvSpPr>
          <p:cNvPr id="5" name="Slide Number Placeholder 4"/>
          <p:cNvSpPr>
            <a:spLocks noGrp="1"/>
          </p:cNvSpPr>
          <p:nvPr>
            <p:ph type="sldNum" idx="12"/>
          </p:nvPr>
        </p:nvSpPr>
        <p:spPr/>
        <p:txBody>
          <a:bodyPr/>
          <a:lstStyle/>
          <a:p>
            <a:fld id="{00000000-1234-1234-1234-123412341234}" type="slidenum">
              <a:rPr lang="en" smtClean="0"/>
              <a:pPr/>
              <a:t>25</a:t>
            </a:fld>
            <a:endParaRPr lang="en"/>
          </a:p>
        </p:txBody>
      </p:sp>
    </p:spTree>
    <p:extLst>
      <p:ext uri="{BB962C8B-B14F-4D97-AF65-F5344CB8AC3E}">
        <p14:creationId xmlns:p14="http://schemas.microsoft.com/office/powerpoint/2010/main" val="3863919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862" y="523433"/>
            <a:ext cx="7887038" cy="1021600"/>
          </a:xfrm>
        </p:spPr>
        <p:txBody>
          <a:bodyPr/>
          <a:lstStyle/>
          <a:p>
            <a:r>
              <a:rPr lang="en-US" b="1" dirty="0">
                <a:latin typeface="Times New Roman" panose="02020603050405020304" pitchFamily="18" charset="0"/>
                <a:cs typeface="Times New Roman" panose="02020603050405020304" pitchFamily="18" charset="0"/>
              </a:rPr>
              <a:t>REFRENCES</a:t>
            </a:r>
            <a:endParaRPr lang="en-IN" b="1" dirty="0"/>
          </a:p>
        </p:txBody>
      </p:sp>
      <p:sp>
        <p:nvSpPr>
          <p:cNvPr id="3" name="Text Placeholder 2"/>
          <p:cNvSpPr>
            <a:spLocks noGrp="1"/>
          </p:cNvSpPr>
          <p:nvPr>
            <p:ph type="body" idx="1"/>
          </p:nvPr>
        </p:nvSpPr>
        <p:spPr>
          <a:xfrm>
            <a:off x="209862" y="1918649"/>
            <a:ext cx="11282091" cy="4765486"/>
          </a:xfrm>
        </p:spPr>
        <p:txBody>
          <a:bodyPr/>
          <a:lstStyle/>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 Mehta, R. Singh, and V. Joshi, “Secure ATM transactions using dynamic QR code authentication,” in </a:t>
            </a:r>
            <a:r>
              <a:rPr lang="en-US" sz="1800" i="1" dirty="0">
                <a:latin typeface="Times New Roman" panose="02020603050405020304" pitchFamily="18" charset="0"/>
                <a:cs typeface="Times New Roman" panose="02020603050405020304" pitchFamily="18" charset="0"/>
              </a:rPr>
              <a:t>International Conference on Smart Computing and Communication Technologies (ICSCC)</a:t>
            </a:r>
            <a:r>
              <a:rPr lang="en-US" sz="1800" dirty="0">
                <a:latin typeface="Times New Roman" panose="02020603050405020304" pitchFamily="18" charset="0"/>
                <a:cs typeface="Times New Roman" panose="02020603050405020304" pitchFamily="18" charset="0"/>
              </a:rPr>
              <a:t>, 2021.</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 Kumar and M. Patel, “QR code-based </a:t>
            </a:r>
            <a:r>
              <a:rPr lang="en-US" sz="1800" dirty="0" err="1">
                <a:latin typeface="Times New Roman" panose="02020603050405020304" pitchFamily="18" charset="0"/>
                <a:cs typeface="Times New Roman" panose="02020603050405020304" pitchFamily="18" charset="0"/>
              </a:rPr>
              <a:t>cardless</a:t>
            </a:r>
            <a:r>
              <a:rPr lang="en-US" sz="1800" dirty="0">
                <a:latin typeface="Times New Roman" panose="02020603050405020304" pitchFamily="18" charset="0"/>
                <a:cs typeface="Times New Roman" panose="02020603050405020304" pitchFamily="18" charset="0"/>
              </a:rPr>
              <a:t> ATM access with biometric validation,” in </a:t>
            </a:r>
            <a:r>
              <a:rPr lang="en-US" sz="1800" i="1" dirty="0">
                <a:latin typeface="Times New Roman" panose="02020603050405020304" pitchFamily="18" charset="0"/>
                <a:cs typeface="Times New Roman" panose="02020603050405020304" pitchFamily="18" charset="0"/>
              </a:rPr>
              <a:t>Proceedings of the 7th IEEE Conference on </a:t>
            </a:r>
            <a:r>
              <a:rPr lang="en-US" sz="1800" i="1" dirty="0" err="1">
                <a:latin typeface="Times New Roman" panose="02020603050405020304" pitchFamily="18" charset="0"/>
                <a:cs typeface="Times New Roman" panose="02020603050405020304" pitchFamily="18" charset="0"/>
              </a:rPr>
              <a:t>Cybersecurity</a:t>
            </a:r>
            <a:r>
              <a:rPr lang="en-US" sz="1800" i="1" dirty="0">
                <a:latin typeface="Times New Roman" panose="02020603050405020304" pitchFamily="18" charset="0"/>
                <a:cs typeface="Times New Roman" panose="02020603050405020304" pitchFamily="18" charset="0"/>
              </a:rPr>
              <a:t> and Innovations</a:t>
            </a:r>
            <a:r>
              <a:rPr lang="en-US" sz="1800" dirty="0">
                <a:latin typeface="Times New Roman" panose="02020603050405020304" pitchFamily="18" charset="0"/>
                <a:cs typeface="Times New Roman" panose="02020603050405020304" pitchFamily="18" charset="0"/>
              </a:rPr>
              <a:t>, 2022, pp. 110–115.</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 Sharma, N. Jain, and K. </a:t>
            </a:r>
            <a:r>
              <a:rPr lang="en-US" sz="1800" dirty="0" err="1">
                <a:latin typeface="Times New Roman" panose="02020603050405020304" pitchFamily="18" charset="0"/>
                <a:cs typeface="Times New Roman" panose="02020603050405020304" pitchFamily="18" charset="0"/>
              </a:rPr>
              <a:t>Verma</a:t>
            </a:r>
            <a:r>
              <a:rPr lang="en-US" sz="1800" dirty="0">
                <a:latin typeface="Times New Roman" panose="02020603050405020304" pitchFamily="18" charset="0"/>
                <a:cs typeface="Times New Roman" panose="02020603050405020304" pitchFamily="18" charset="0"/>
              </a:rPr>
              <a:t>, “Implementation of secure and contactless banking using mobile QR authentication,” </a:t>
            </a:r>
            <a:r>
              <a:rPr lang="en-US" sz="1800" i="1" dirty="0">
                <a:latin typeface="Times New Roman" panose="02020603050405020304" pitchFamily="18" charset="0"/>
                <a:cs typeface="Times New Roman" panose="02020603050405020304" pitchFamily="18" charset="0"/>
              </a:rPr>
              <a:t>Journal of Network Security and Applications</a:t>
            </a:r>
            <a:r>
              <a:rPr lang="en-US" sz="1800" dirty="0">
                <a:latin typeface="Times New Roman" panose="02020603050405020304" pitchFamily="18" charset="0"/>
                <a:cs typeface="Times New Roman" panose="02020603050405020304" pitchFamily="18" charset="0"/>
              </a:rPr>
              <a:t>, vol. 9, no. 4, pp. 245–252, 2021.</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 Roy and A. </a:t>
            </a:r>
            <a:r>
              <a:rPr lang="en-US" sz="1800" dirty="0" err="1">
                <a:latin typeface="Times New Roman" panose="02020603050405020304" pitchFamily="18" charset="0"/>
                <a:cs typeface="Times New Roman" panose="02020603050405020304" pitchFamily="18" charset="0"/>
              </a:rPr>
              <a:t>Sinha</a:t>
            </a:r>
            <a:r>
              <a:rPr lang="en-US" sz="1800" dirty="0">
                <a:latin typeface="Times New Roman" panose="02020603050405020304" pitchFamily="18" charset="0"/>
                <a:cs typeface="Times New Roman" panose="02020603050405020304" pitchFamily="18" charset="0"/>
              </a:rPr>
              <a:t>, “Design of a smart ATM interface using encrypted QR codes,” in </a:t>
            </a:r>
            <a:r>
              <a:rPr lang="en-US" sz="1800" i="1" dirty="0">
                <a:latin typeface="Times New Roman" panose="02020603050405020304" pitchFamily="18" charset="0"/>
                <a:cs typeface="Times New Roman" panose="02020603050405020304" pitchFamily="18" charset="0"/>
              </a:rPr>
              <a:t>Advanced Trends in Computer Science and Information Systems</a:t>
            </a:r>
            <a:r>
              <a:rPr lang="en-US" sz="1800" dirty="0">
                <a:latin typeface="Times New Roman" panose="02020603050405020304" pitchFamily="18" charset="0"/>
                <a:cs typeface="Times New Roman" panose="02020603050405020304" pitchFamily="18" charset="0"/>
              </a:rPr>
              <a:t>, 2020, pp. 187–192</a:t>
            </a:r>
          </a:p>
        </p:txBody>
      </p:sp>
      <p:sp>
        <p:nvSpPr>
          <p:cNvPr id="5" name="Slide Number Placeholder 4"/>
          <p:cNvSpPr>
            <a:spLocks noGrp="1"/>
          </p:cNvSpPr>
          <p:nvPr>
            <p:ph type="sldNum" idx="12"/>
          </p:nvPr>
        </p:nvSpPr>
        <p:spPr/>
        <p:txBody>
          <a:bodyPr/>
          <a:lstStyle/>
          <a:p>
            <a:fld id="{00000000-1234-1234-1234-123412341234}" type="slidenum">
              <a:rPr lang="en" smtClean="0"/>
              <a:pPr/>
              <a:t>26</a:t>
            </a:fld>
            <a:endParaRPr lang="en"/>
          </a:p>
        </p:txBody>
      </p:sp>
    </p:spTree>
    <p:extLst>
      <p:ext uri="{BB962C8B-B14F-4D97-AF65-F5344CB8AC3E}">
        <p14:creationId xmlns:p14="http://schemas.microsoft.com/office/powerpoint/2010/main" val="2493775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33"/>
          <p:cNvSpPr txBox="1">
            <a:spLocks noGrp="1"/>
          </p:cNvSpPr>
          <p:nvPr>
            <p:ph type="sldNum" sz="quarter"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27</a:t>
            </a:fld>
            <a:endParaRPr/>
          </a:p>
        </p:txBody>
      </p:sp>
      <p:sp>
        <p:nvSpPr>
          <p:cNvPr id="524" name="Google Shape;524;p33"/>
          <p:cNvSpPr txBox="1">
            <a:spLocks noGrp="1"/>
          </p:cNvSpPr>
          <p:nvPr>
            <p:ph type="ctrTitle" idx="4294967295"/>
          </p:nvPr>
        </p:nvSpPr>
        <p:spPr>
          <a:xfrm>
            <a:off x="3400425" y="2922588"/>
            <a:ext cx="8791575" cy="1547812"/>
          </a:xfrm>
          <a:prstGeom prst="rect">
            <a:avLst/>
          </a:prstGeom>
        </p:spPr>
        <p:txBody>
          <a:bodyPr spcFirstLastPara="1" vert="horz" wrap="square" lIns="121900" tIns="121900" rIns="121900" bIns="121900" rtlCol="0" anchor="ctr" anchorCtr="0">
            <a:noAutofit/>
          </a:bodyPr>
          <a:lstStyle/>
          <a:p>
            <a:pPr algn="ctr">
              <a:spcBef>
                <a:spcPts val="0"/>
              </a:spcBef>
            </a:pPr>
            <a:r>
              <a:rPr lang="en" sz="8000" dirty="0">
                <a:solidFill>
                  <a:schemeClr val="accent5"/>
                </a:solidFill>
              </a:rPr>
              <a:t>THANKS!</a:t>
            </a:r>
            <a:endParaRPr sz="8000" dirty="0">
              <a:solidFill>
                <a:schemeClr val="accent5"/>
              </a:solidFill>
            </a:endParaRPr>
          </a:p>
        </p:txBody>
      </p:sp>
      <p:grpSp>
        <p:nvGrpSpPr>
          <p:cNvPr id="526" name="Google Shape;526;p33"/>
          <p:cNvGrpSpPr/>
          <p:nvPr/>
        </p:nvGrpSpPr>
        <p:grpSpPr>
          <a:xfrm>
            <a:off x="5328280" y="1289090"/>
            <a:ext cx="1596885" cy="1502369"/>
            <a:chOff x="5972700" y="2330200"/>
            <a:chExt cx="411625" cy="387275"/>
          </a:xfrm>
        </p:grpSpPr>
        <p:sp>
          <p:nvSpPr>
            <p:cNvPr id="527" name="Google Shape;527;p33"/>
            <p:cNvSpPr/>
            <p:nvPr/>
          </p:nvSpPr>
          <p:spPr>
            <a:xfrm>
              <a:off x="5972700" y="2476950"/>
              <a:ext cx="98050" cy="219825"/>
            </a:xfrm>
            <a:custGeom>
              <a:avLst/>
              <a:gdLst/>
              <a:ahLst/>
              <a:cxnLst/>
              <a:rect l="l" t="t" r="r" b="b"/>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19050" cap="rnd" cmpd="sng">
              <a:solidFill>
                <a:srgbClr val="3F5378"/>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28" name="Google Shape;528;p33"/>
            <p:cNvSpPr/>
            <p:nvPr/>
          </p:nvSpPr>
          <p:spPr>
            <a:xfrm>
              <a:off x="6078025" y="2330200"/>
              <a:ext cx="306300" cy="387275"/>
            </a:xfrm>
            <a:custGeom>
              <a:avLst/>
              <a:gdLst/>
              <a:ahLst/>
              <a:cxnLst/>
              <a:rect l="l" t="t" r="r" b="b"/>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19050" cap="rnd" cmpd="sng">
              <a:solidFill>
                <a:srgbClr val="3F5378"/>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3006</TotalTime>
  <Words>2209</Words>
  <Application>Microsoft Office PowerPoint</Application>
  <PresentationFormat>Widescreen</PresentationFormat>
  <Paragraphs>154</Paragraphs>
  <Slides>27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Times New Roman</vt:lpstr>
      <vt:lpstr>Wingdings</vt:lpstr>
      <vt:lpstr>Office 2013 - 2022 Theme</vt:lpstr>
      <vt:lpstr>Adaptive Financial Security Framework: Implementing Advanced QR-Based Authentication to Prevent Unauthorized ATM Transactions.</vt:lpstr>
      <vt:lpstr>ABSTRACT</vt:lpstr>
      <vt:lpstr>INTRODUCTION </vt:lpstr>
      <vt:lpstr>EXISTING SYSTEM</vt:lpstr>
      <vt:lpstr>DISADVANTAGE</vt:lpstr>
      <vt:lpstr>LITERATURE SURVEY</vt:lpstr>
      <vt:lpstr>   PROPOSED  SYSTEM</vt:lpstr>
      <vt:lpstr>ADVANTAGES</vt:lpstr>
      <vt:lpstr>SYSTEM ARCHITECTURE  </vt:lpstr>
      <vt:lpstr>SYSTEM MODULE</vt:lpstr>
      <vt:lpstr> MODULE DESCRIPTIONS</vt:lpstr>
      <vt:lpstr> MODULE DESCRIPTIONS</vt:lpstr>
      <vt:lpstr> MODULE DESCRIPTIONS</vt:lpstr>
      <vt:lpstr>SOFTWARE REQUIREMENTS</vt:lpstr>
      <vt:lpstr>HARDWARE REQUIREMENTS</vt:lpstr>
      <vt:lpstr>USE CASE DIAGRAM</vt:lpstr>
      <vt:lpstr>ACTIVITY DIAGRAM</vt:lpstr>
      <vt:lpstr>SEQUENCE DIAGRAM</vt:lpstr>
      <vt:lpstr>  CLASS DIAGRAM</vt:lpstr>
      <vt:lpstr>Sample i/p and o/p</vt:lpstr>
      <vt:lpstr>Sample i/p and o/p</vt:lpstr>
      <vt:lpstr>Sample i/p and o/p</vt:lpstr>
      <vt:lpstr>Sample i/p and o/p</vt:lpstr>
      <vt:lpstr>CONCLUSION</vt:lpstr>
      <vt:lpstr>FUTURE ENHANCEMENT</vt:lpstr>
      <vt:lpstr>REFRENCES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dc:title>
  <dc:creator>Deepa Sarathi</dc:creator>
  <cp:lastModifiedBy>surya Prakash.R</cp:lastModifiedBy>
  <cp:revision>172</cp:revision>
  <dcterms:created xsi:type="dcterms:W3CDTF">2022-06-01T06:17:28Z</dcterms:created>
  <dcterms:modified xsi:type="dcterms:W3CDTF">2026-02-02T13:20:58Z</dcterms:modified>
</cp:coreProperties>
</file>